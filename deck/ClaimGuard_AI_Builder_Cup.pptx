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Lst>
  <p:sldSz cx="9144000" cy="5143500" type="screen16x9"/>
  <p:notesSz cx="6858000" cy="9144000"/>
  <p:embeddedFontLst>
    <p:embeddedFont>
      <p:font typeface="Google Sans Flex" panose="020B0604020202020204" charset="0"/>
      <p:regular r:id="rId17"/>
      <p:bold r:id="rId18"/>
    </p:embeddedFont>
    <p:embeddedFont>
      <p:font typeface="Google Sans Flex Medium" panose="020B0604020202020204" charset="0"/>
      <p:regular r:id="rId19"/>
      <p:bold r:id="rId20"/>
    </p:embeddedFont>
    <p:embeddedFont>
      <p:font typeface="Google Sans Flex SemiBold" panose="020B060402020202020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042"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085bff3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claimguard-ai-342329356911.us-central1.run.app/doc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claimguard-ai-342329356911.us-central1.run.app" TargetMode="External"/><Relationship Id="rId5" Type="http://schemas.openxmlformats.org/officeDocument/2006/relationships/hyperlink" Target="https://github.com/PR1YAM9/ai-builder-cup"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dirty="0">
                <a:latin typeface="Google Sans Flex SemiBold"/>
                <a:ea typeface="Google Sans Flex SemiBold"/>
                <a:cs typeface="Google Sans Flex SemiBold"/>
                <a:sym typeface="Google Sans Flex SemiBold"/>
              </a:rPr>
              <a:t>Team Details</a:t>
            </a:r>
            <a:endParaRPr sz="2100" dirty="0">
              <a:latin typeface="Google Sans Flex SemiBold"/>
              <a:ea typeface="Google Sans Flex SemiBold"/>
              <a:cs typeface="Google Sans Flex SemiBold"/>
              <a:sym typeface="Google Sans Flex SemiBold"/>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a:p>
            <a:pPr marL="914400" lvl="1" indent="-342900" algn="l" rtl="0">
              <a:spcBef>
                <a:spcPts val="0"/>
              </a:spcBef>
              <a:spcAft>
                <a:spcPts val="0"/>
              </a:spcAft>
              <a:buSzPts val="1800"/>
              <a:buFont typeface="Google Sans Flex"/>
              <a:buAutoNum type="alphaLcPeriod"/>
            </a:pPr>
            <a:r>
              <a:rPr lang="en-GB" sz="1800" b="1" dirty="0">
                <a:latin typeface="Google Sans Flex"/>
                <a:ea typeface="Google Sans Flex"/>
                <a:cs typeface="Google Sans Flex"/>
                <a:sym typeface="Google Sans Flex"/>
              </a:rPr>
              <a:t>Team name: </a:t>
            </a:r>
            <a:r>
              <a:rPr lang="en-GB" sz="1800" b="0" dirty="0">
                <a:latin typeface="Google Sans Flex"/>
                <a:ea typeface="Google Sans Flex"/>
                <a:cs typeface="Google Sans Flex"/>
                <a:sym typeface="Google Sans Flex"/>
              </a:rPr>
              <a:t>Right On</a:t>
            </a:r>
            <a:endParaRPr sz="1800" dirty="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sz="1800" b="1" dirty="0">
                <a:latin typeface="Google Sans Flex"/>
                <a:ea typeface="Google Sans Flex"/>
                <a:cs typeface="Google Sans Flex"/>
                <a:sym typeface="Google Sans Flex"/>
              </a:rPr>
              <a:t>Team leader name: </a:t>
            </a:r>
            <a:r>
              <a:rPr lang="en-GB" sz="1800" b="0" dirty="0">
                <a:latin typeface="Google Sans Flex"/>
                <a:ea typeface="Google Sans Flex"/>
                <a:cs typeface="Google Sans Flex"/>
                <a:sym typeface="Google Sans Flex"/>
              </a:rPr>
              <a:t>Priyam Maini</a:t>
            </a:r>
            <a:endParaRPr sz="1800" dirty="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sz="1800" b="1" dirty="0">
                <a:latin typeface="Google Sans Flex"/>
                <a:ea typeface="Google Sans Flex"/>
                <a:cs typeface="Google Sans Flex"/>
                <a:sym typeface="Google Sans Flex"/>
              </a:rPr>
              <a:t>Problem Statement: </a:t>
            </a:r>
            <a:r>
              <a:rPr lang="en-GB" sz="1800" b="0" dirty="0">
                <a:latin typeface="Google Sans Flex"/>
                <a:ea typeface="Google Sans Flex"/>
                <a:cs typeface="Google Sans Flex"/>
                <a:sym typeface="Google Sans Flex"/>
              </a:rPr>
              <a:t>Banking, Financial Services and Insurance. Catching fraud and risk in insurance claims with AI</a:t>
            </a:r>
            <a:endParaRPr sz="1800" dirty="0">
              <a:latin typeface="Google Sans Flex"/>
              <a:ea typeface="Google Sans Flex"/>
              <a:cs typeface="Google Sans Flex"/>
              <a:sym typeface="Google Sans Flex"/>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Reads every photo and document, then finds where they disagree</a:t>
            </a:r>
          </a:p>
        </p:txBody>
      </p:sp>
      <p:sp>
        <p:nvSpPr>
          <p:cNvPr id="73" name="TextBox 72"/>
          <p:cNvSpPr txBox="1"/>
          <p:nvPr/>
        </p:nvSpPr>
        <p:spPr>
          <a:xfrm>
            <a:off x="320040" y="1691640"/>
            <a:ext cx="4160520" cy="2377440"/>
          </a:xfrm>
          <a:prstGeom prst="rect">
            <a:avLst/>
          </a:prstGeom>
          <a:noFill/>
        </p:spPr>
        <p:txBody>
          <a:bodyPr wrap="square" lIns="0" tIns="0" rIns="0" bIns="0" anchor="t">
            <a:spAutoFit/>
          </a:bodyPr>
          <a:lstStyle/>
          <a:p>
            <a:pPr algn="l">
              <a:lnSpc>
                <a:spcPct val="115000"/>
              </a:lnSpc>
              <a:spcAft>
                <a:spcPts val="700"/>
              </a:spcAft>
            </a:pPr>
            <a:r>
              <a:rPr sz="1150" b="0" i="0">
                <a:solidFill>
                  <a:srgbClr val="3D3F43"/>
                </a:solidFill>
                <a:latin typeface="Arial"/>
              </a:rPr>
              <a:t>Every insurance claim arrives as a story plus a pile of evidence: photos, invoices, estimates, police reports. Fraud rarely sits in one document. It hides in the gaps between them. A repair bill dated before the accident. Front-end parts billed for a rear-end crash. A phone reported lost two days before it was bought.</a:t>
            </a:r>
          </a:p>
          <a:p>
            <a:pPr algn="l">
              <a:lnSpc>
                <a:spcPct val="115000"/>
              </a:lnSpc>
              <a:spcAft>
                <a:spcPts val="700"/>
              </a:spcAft>
            </a:pPr>
            <a:r>
              <a:rPr sz="1150" b="0" i="0">
                <a:solidFill>
                  <a:srgbClr val="3D3F43"/>
                </a:solidFill>
                <a:latin typeface="Arial"/>
              </a:rPr>
              <a:t>ClaimGuard sends the whole claim to Gemini on Vertex AI in one request. It reads everything, checks each piece against the others and against the insurer's own policy rules, and gives the adjuster a risk score, a recommendation and the evidence behind every finding.</a:t>
            </a:r>
          </a:p>
          <a:p>
            <a:pPr algn="l">
              <a:lnSpc>
                <a:spcPct val="115000"/>
              </a:lnSpc>
              <a:spcAft>
                <a:spcPts val="700"/>
              </a:spcAft>
            </a:pPr>
            <a:r>
              <a:rPr sz="1150" b="1" i="0">
                <a:solidFill>
                  <a:srgbClr val="1C1D1F"/>
                </a:solidFill>
                <a:latin typeface="Arial"/>
              </a:rPr>
              <a:t>The adjuster still makes the call. ClaimGuard makes sure nothing gets missed.</a:t>
            </a:r>
          </a:p>
        </p:txBody>
      </p:sp>
      <p:pic>
        <p:nvPicPr>
          <p:cNvPr id="74" name="Picture 73" descr="verdict2.png"/>
          <p:cNvPicPr>
            <a:picLocks noChangeAspect="1"/>
          </p:cNvPicPr>
          <p:nvPr/>
        </p:nvPicPr>
        <p:blipFill>
          <a:blip r:embed="rId4"/>
          <a:stretch>
            <a:fillRect/>
          </a:stretch>
        </p:blipFill>
        <p:spPr>
          <a:xfrm>
            <a:off x="4709160" y="1737360"/>
            <a:ext cx="4114800" cy="1241921"/>
          </a:xfrm>
          <a:prstGeom prst="rect">
            <a:avLst/>
          </a:prstGeom>
          <a:ln w="9525">
            <a:solidFill>
              <a:srgbClr val="DDDFE3"/>
            </a:solidFill>
          </a:ln>
        </p:spPr>
      </p:pic>
      <p:sp>
        <p:nvSpPr>
          <p:cNvPr id="75" name="TextBox 74"/>
          <p:cNvSpPr txBox="1"/>
          <p:nvPr/>
        </p:nvSpPr>
        <p:spPr>
          <a:xfrm>
            <a:off x="4709160" y="3035808"/>
            <a:ext cx="4114800" cy="27432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Live result on a test claim: the photo shows front damage, the claimant says rear</a:t>
            </a:r>
          </a:p>
        </p:txBody>
      </p:sp>
      <p:sp>
        <p:nvSpPr>
          <p:cNvPr id="76" name="TextBox 75"/>
          <p:cNvSpPr txBox="1"/>
          <p:nvPr/>
        </p:nvSpPr>
        <p:spPr>
          <a:xfrm>
            <a:off x="4709160" y="3520440"/>
            <a:ext cx="1325880" cy="411480"/>
          </a:xfrm>
          <a:prstGeom prst="rect">
            <a:avLst/>
          </a:prstGeom>
          <a:noFill/>
        </p:spPr>
        <p:txBody>
          <a:bodyPr wrap="square" lIns="0" tIns="0" rIns="0" bIns="0" anchor="t">
            <a:spAutoFit/>
          </a:bodyPr>
          <a:lstStyle/>
          <a:p>
            <a:pPr algn="l">
              <a:lnSpc>
                <a:spcPct val="115000"/>
              </a:lnSpc>
              <a:spcAft>
                <a:spcPts val="400"/>
              </a:spcAft>
            </a:pPr>
            <a:r>
              <a:rPr sz="1800" b="1" i="0">
                <a:solidFill>
                  <a:srgbClr val="1C1D1F"/>
                </a:solidFill>
                <a:latin typeface="Arial"/>
              </a:rPr>
              <a:t>$308.6B</a:t>
            </a:r>
          </a:p>
        </p:txBody>
      </p:sp>
      <p:sp>
        <p:nvSpPr>
          <p:cNvPr id="77" name="TextBox 76"/>
          <p:cNvSpPr txBox="1"/>
          <p:nvPr/>
        </p:nvSpPr>
        <p:spPr>
          <a:xfrm>
            <a:off x="4709160" y="3931920"/>
            <a:ext cx="1298448" cy="914400"/>
          </a:xfrm>
          <a:prstGeom prst="rect">
            <a:avLst/>
          </a:prstGeom>
          <a:noFill/>
        </p:spPr>
        <p:txBody>
          <a:bodyPr wrap="square" lIns="0" tIns="0" rIns="0" bIns="0" anchor="t">
            <a:spAutoFit/>
          </a:bodyPr>
          <a:lstStyle/>
          <a:p>
            <a:pPr algn="l">
              <a:lnSpc>
                <a:spcPct val="115000"/>
              </a:lnSpc>
              <a:spcAft>
                <a:spcPts val="400"/>
              </a:spcAft>
            </a:pPr>
            <a:r>
              <a:rPr sz="900" b="0" i="0">
                <a:solidFill>
                  <a:srgbClr val="6E7076"/>
                </a:solidFill>
                <a:latin typeface="Arial"/>
              </a:rPr>
              <a:t>estimated yearly cost of insurance fraud in the US (Coalition Against Insurance Fraud, 2022)</a:t>
            </a:r>
          </a:p>
        </p:txBody>
      </p:sp>
      <p:sp>
        <p:nvSpPr>
          <p:cNvPr id="78" name="TextBox 77"/>
          <p:cNvSpPr txBox="1"/>
          <p:nvPr/>
        </p:nvSpPr>
        <p:spPr>
          <a:xfrm>
            <a:off x="6108192" y="3520440"/>
            <a:ext cx="1325880" cy="411480"/>
          </a:xfrm>
          <a:prstGeom prst="rect">
            <a:avLst/>
          </a:prstGeom>
          <a:noFill/>
        </p:spPr>
        <p:txBody>
          <a:bodyPr wrap="square" lIns="0" tIns="0" rIns="0" bIns="0" anchor="t">
            <a:spAutoFit/>
          </a:bodyPr>
          <a:lstStyle/>
          <a:p>
            <a:pPr algn="l">
              <a:lnSpc>
                <a:spcPct val="115000"/>
              </a:lnSpc>
              <a:spcAft>
                <a:spcPts val="400"/>
              </a:spcAft>
            </a:pPr>
            <a:r>
              <a:rPr sz="1800" b="1" i="0">
                <a:solidFill>
                  <a:srgbClr val="1C1D1F"/>
                </a:solidFill>
                <a:latin typeface="Arial"/>
              </a:rPr>
              <a:t>25 s</a:t>
            </a:r>
          </a:p>
        </p:txBody>
      </p:sp>
      <p:sp>
        <p:nvSpPr>
          <p:cNvPr id="79" name="TextBox 78"/>
          <p:cNvSpPr txBox="1"/>
          <p:nvPr/>
        </p:nvSpPr>
        <p:spPr>
          <a:xfrm>
            <a:off x="6108192" y="3931920"/>
            <a:ext cx="1298448" cy="914400"/>
          </a:xfrm>
          <a:prstGeom prst="rect">
            <a:avLst/>
          </a:prstGeom>
          <a:noFill/>
        </p:spPr>
        <p:txBody>
          <a:bodyPr wrap="square" lIns="0" tIns="0" rIns="0" bIns="0" anchor="t">
            <a:spAutoFit/>
          </a:bodyPr>
          <a:lstStyle/>
          <a:p>
            <a:pPr algn="l">
              <a:lnSpc>
                <a:spcPct val="115000"/>
              </a:lnSpc>
              <a:spcAft>
                <a:spcPts val="400"/>
              </a:spcAft>
            </a:pPr>
            <a:r>
              <a:rPr sz="900" b="0" i="0">
                <a:solidFill>
                  <a:srgbClr val="6E7076"/>
                </a:solidFill>
                <a:latin typeface="Arial"/>
              </a:rPr>
              <a:t>average time for a full multi-document review</a:t>
            </a:r>
          </a:p>
        </p:txBody>
      </p:sp>
      <p:sp>
        <p:nvSpPr>
          <p:cNvPr id="80" name="TextBox 79"/>
          <p:cNvSpPr txBox="1"/>
          <p:nvPr/>
        </p:nvSpPr>
        <p:spPr>
          <a:xfrm>
            <a:off x="7507224" y="3520440"/>
            <a:ext cx="1325880" cy="411480"/>
          </a:xfrm>
          <a:prstGeom prst="rect">
            <a:avLst/>
          </a:prstGeom>
          <a:noFill/>
        </p:spPr>
        <p:txBody>
          <a:bodyPr wrap="square" lIns="0" tIns="0" rIns="0" bIns="0" anchor="t">
            <a:spAutoFit/>
          </a:bodyPr>
          <a:lstStyle/>
          <a:p>
            <a:pPr algn="l">
              <a:lnSpc>
                <a:spcPct val="115000"/>
              </a:lnSpc>
              <a:spcAft>
                <a:spcPts val="400"/>
              </a:spcAft>
            </a:pPr>
            <a:r>
              <a:rPr sz="1800" b="1" i="0">
                <a:solidFill>
                  <a:srgbClr val="1C1D1F"/>
                </a:solidFill>
                <a:latin typeface="Arial"/>
              </a:rPr>
              <a:t>1 request</a:t>
            </a:r>
          </a:p>
        </p:txBody>
      </p:sp>
      <p:sp>
        <p:nvSpPr>
          <p:cNvPr id="81" name="TextBox 80"/>
          <p:cNvSpPr txBox="1"/>
          <p:nvPr/>
        </p:nvSpPr>
        <p:spPr>
          <a:xfrm>
            <a:off x="7507224" y="3931920"/>
            <a:ext cx="1298448" cy="914400"/>
          </a:xfrm>
          <a:prstGeom prst="rect">
            <a:avLst/>
          </a:prstGeom>
          <a:noFill/>
        </p:spPr>
        <p:txBody>
          <a:bodyPr wrap="square" lIns="0" tIns="0" rIns="0" bIns="0" anchor="t">
            <a:spAutoFit/>
          </a:bodyPr>
          <a:lstStyle/>
          <a:p>
            <a:pPr algn="l">
              <a:lnSpc>
                <a:spcPct val="115000"/>
              </a:lnSpc>
              <a:spcAft>
                <a:spcPts val="400"/>
              </a:spcAft>
            </a:pPr>
            <a:r>
              <a:rPr sz="900" b="0" i="0">
                <a:solidFill>
                  <a:srgbClr val="6E7076"/>
                </a:solidFill>
                <a:latin typeface="Arial"/>
              </a:rPr>
              <a:t>all photos and documents reviewed together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6"/>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Most fraud tools look at numbers. ClaimGuard looks at the evidence</a:t>
            </a:r>
          </a:p>
        </p:txBody>
      </p:sp>
      <p:sp>
        <p:nvSpPr>
          <p:cNvPr id="81" name="Rounded Rectangle 80"/>
          <p:cNvSpPr/>
          <p:nvPr/>
        </p:nvSpPr>
        <p:spPr>
          <a:xfrm>
            <a:off x="320040" y="1645920"/>
            <a:ext cx="2682240" cy="32004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484632" y="1810512"/>
            <a:ext cx="2353056" cy="45720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How is it different from existing ideas?</a:t>
            </a:r>
          </a:p>
        </p:txBody>
      </p:sp>
      <p:sp>
        <p:nvSpPr>
          <p:cNvPr id="83" name="TextBox 82"/>
          <p:cNvSpPr txBox="1"/>
          <p:nvPr/>
        </p:nvSpPr>
        <p:spPr>
          <a:xfrm>
            <a:off x="484632" y="2331720"/>
            <a:ext cx="2353056" cy="2468880"/>
          </a:xfrm>
          <a:prstGeom prst="rect">
            <a:avLst/>
          </a:prstGeom>
          <a:noFill/>
        </p:spPr>
        <p:txBody>
          <a:bodyPr wrap="square" lIns="0" tIns="0" rIns="0" bIns="0" anchor="t">
            <a:spAutoFit/>
          </a:bodyPr>
          <a:lstStyle/>
          <a:p>
            <a:pPr algn="l">
              <a:lnSpc>
                <a:spcPct val="115000"/>
              </a:lnSpc>
              <a:spcAft>
                <a:spcPts val="600"/>
              </a:spcAft>
            </a:pPr>
            <a:r>
              <a:rPr sz="1050" b="0" i="0">
                <a:solidFill>
                  <a:srgbClr val="3D3F43"/>
                </a:solidFill>
                <a:latin typeface="Arial"/>
              </a:rPr>
              <a:t>Rule engines and scoring models work from structured fields like amount, date and claim history. They cannot open a PDF or look at a photo.</a:t>
            </a:r>
          </a:p>
          <a:p>
            <a:pPr algn="l">
              <a:lnSpc>
                <a:spcPct val="115000"/>
              </a:lnSpc>
              <a:spcAft>
                <a:spcPts val="600"/>
              </a:spcAft>
            </a:pPr>
            <a:r>
              <a:rPr sz="1050" b="0" i="0">
                <a:solidFill>
                  <a:srgbClr val="3D3F43"/>
                </a:solidFill>
                <a:latin typeface="Arial"/>
              </a:rPr>
              <a:t>Document AI tools pull fields out of each file, but check every file on its own.</a:t>
            </a:r>
          </a:p>
          <a:p>
            <a:pPr algn="l">
              <a:lnSpc>
                <a:spcPct val="115000"/>
              </a:lnSpc>
              <a:spcAft>
                <a:spcPts val="600"/>
              </a:spcAft>
            </a:pPr>
            <a:r>
              <a:rPr sz="1050" b="0" i="0">
                <a:solidFill>
                  <a:srgbClr val="3D3F43"/>
                </a:solidFill>
                <a:latin typeface="Arial"/>
              </a:rPr>
              <a:t>ClaimGuard compares every file with every other file and with the claimant's own words. That is where staged and padded claims fall apart.</a:t>
            </a:r>
          </a:p>
        </p:txBody>
      </p:sp>
      <p:sp>
        <p:nvSpPr>
          <p:cNvPr id="84" name="Rounded Rectangle 83"/>
          <p:cNvSpPr/>
          <p:nvPr/>
        </p:nvSpPr>
        <p:spPr>
          <a:xfrm>
            <a:off x="3230880" y="1645920"/>
            <a:ext cx="2682240" cy="32004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Box 84"/>
          <p:cNvSpPr txBox="1"/>
          <p:nvPr/>
        </p:nvSpPr>
        <p:spPr>
          <a:xfrm>
            <a:off x="3395472" y="1810512"/>
            <a:ext cx="2353056" cy="45720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How will it solve the problem?</a:t>
            </a:r>
          </a:p>
        </p:txBody>
      </p:sp>
      <p:sp>
        <p:nvSpPr>
          <p:cNvPr id="86" name="TextBox 85"/>
          <p:cNvSpPr txBox="1"/>
          <p:nvPr/>
        </p:nvSpPr>
        <p:spPr>
          <a:xfrm>
            <a:off x="3395472" y="2331720"/>
            <a:ext cx="2353056" cy="2468880"/>
          </a:xfrm>
          <a:prstGeom prst="rect">
            <a:avLst/>
          </a:prstGeom>
          <a:noFill/>
        </p:spPr>
        <p:txBody>
          <a:bodyPr wrap="square" lIns="0" tIns="0" rIns="0" bIns="0" anchor="t">
            <a:spAutoFit/>
          </a:bodyPr>
          <a:lstStyle/>
          <a:p>
            <a:pPr algn="l">
              <a:lnSpc>
                <a:spcPct val="115000"/>
              </a:lnSpc>
              <a:spcAft>
                <a:spcPts val="600"/>
              </a:spcAft>
            </a:pPr>
            <a:r>
              <a:rPr sz="1050" b="0" i="0">
                <a:solidFill>
                  <a:srgbClr val="3D3F43"/>
                </a:solidFill>
                <a:latin typeface="Arial"/>
              </a:rPr>
              <a:t>Adjusters get a first-pass review in about half a minute instead of reading every page.</a:t>
            </a:r>
          </a:p>
          <a:p>
            <a:pPr algn="l">
              <a:lnSpc>
                <a:spcPct val="115000"/>
              </a:lnSpc>
              <a:spcAft>
                <a:spcPts val="600"/>
              </a:spcAft>
            </a:pPr>
            <a:r>
              <a:rPr sz="1050" b="0" i="0">
                <a:solidFill>
                  <a:srgbClr val="3D3F43"/>
                </a:solidFill>
                <a:latin typeface="Arial"/>
              </a:rPr>
              <a:t>Honest claims with consistent evidence can be fast-tracked.</a:t>
            </a:r>
          </a:p>
          <a:p>
            <a:pPr algn="l">
              <a:lnSpc>
                <a:spcPct val="115000"/>
              </a:lnSpc>
              <a:spcAft>
                <a:spcPts val="600"/>
              </a:spcAft>
            </a:pPr>
            <a:r>
              <a:rPr sz="1050" b="0" i="0">
                <a:solidFill>
                  <a:srgbClr val="3D3F43"/>
                </a:solidFill>
                <a:latin typeface="Arial"/>
              </a:rPr>
              <a:t>Suspicious claims reach the investigations team with each contradiction already listed and traced back to its source file.</a:t>
            </a:r>
          </a:p>
        </p:txBody>
      </p:sp>
      <p:sp>
        <p:nvSpPr>
          <p:cNvPr id="87" name="Rounded Rectangle 86"/>
          <p:cNvSpPr/>
          <p:nvPr/>
        </p:nvSpPr>
        <p:spPr>
          <a:xfrm>
            <a:off x="6141720" y="1645920"/>
            <a:ext cx="2682240" cy="32004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Box 87"/>
          <p:cNvSpPr txBox="1"/>
          <p:nvPr/>
        </p:nvSpPr>
        <p:spPr>
          <a:xfrm>
            <a:off x="6306312" y="1810512"/>
            <a:ext cx="2353056" cy="45720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USP of the proposed solution</a:t>
            </a:r>
          </a:p>
        </p:txBody>
      </p:sp>
      <p:sp>
        <p:nvSpPr>
          <p:cNvPr id="89" name="TextBox 88"/>
          <p:cNvSpPr txBox="1"/>
          <p:nvPr/>
        </p:nvSpPr>
        <p:spPr>
          <a:xfrm>
            <a:off x="6306312" y="2331720"/>
            <a:ext cx="2353056" cy="2468880"/>
          </a:xfrm>
          <a:prstGeom prst="rect">
            <a:avLst/>
          </a:prstGeom>
          <a:noFill/>
        </p:spPr>
        <p:txBody>
          <a:bodyPr wrap="square" lIns="0" tIns="0" rIns="0" bIns="0" anchor="t">
            <a:spAutoFit/>
          </a:bodyPr>
          <a:lstStyle/>
          <a:p>
            <a:pPr algn="l">
              <a:lnSpc>
                <a:spcPct val="115000"/>
              </a:lnSpc>
              <a:spcAft>
                <a:spcPts val="600"/>
              </a:spcAft>
            </a:pPr>
            <a:r>
              <a:rPr sz="1050" b="1" i="0">
                <a:solidFill>
                  <a:srgbClr val="1C1D1F"/>
                </a:solidFill>
                <a:latin typeface="Arial"/>
              </a:rPr>
              <a:t>Explainable. </a:t>
            </a:r>
            <a:r>
              <a:rPr sz="1050" b="0" i="0">
                <a:solidFill>
                  <a:srgbClr val="3D3F43"/>
                </a:solidFill>
                <a:latin typeface="Arial"/>
              </a:rPr>
              <a:t>Every flag names the file and the exact detail behind it.</a:t>
            </a:r>
          </a:p>
          <a:p>
            <a:pPr algn="l">
              <a:lnSpc>
                <a:spcPct val="115000"/>
              </a:lnSpc>
              <a:spcAft>
                <a:spcPts val="600"/>
              </a:spcAft>
            </a:pPr>
            <a:r>
              <a:rPr sz="1050" b="1" i="0">
                <a:solidFill>
                  <a:srgbClr val="1C1D1F"/>
                </a:solidFill>
                <a:latin typeface="Arial"/>
              </a:rPr>
              <a:t>Hybrid scoring. </a:t>
            </a:r>
            <a:r>
              <a:rPr sz="1050" b="0" i="0">
                <a:solidFill>
                  <a:srgbClr val="3D3F43"/>
                </a:solidFill>
                <a:latin typeface="Arial"/>
              </a:rPr>
              <a:t>Hard policy rules set a minimum score the model cannot argue below.</a:t>
            </a:r>
          </a:p>
          <a:p>
            <a:pPr algn="l">
              <a:lnSpc>
                <a:spcPct val="115000"/>
              </a:lnSpc>
              <a:spcAft>
                <a:spcPts val="600"/>
              </a:spcAft>
            </a:pPr>
            <a:r>
              <a:rPr sz="1050" b="1" i="0">
                <a:solidFill>
                  <a:srgbClr val="1C1D1F"/>
                </a:solidFill>
                <a:latin typeface="Arial"/>
              </a:rPr>
              <a:t>Plug-in. </a:t>
            </a:r>
            <a:r>
              <a:rPr sz="1050" b="0" i="0">
                <a:solidFill>
                  <a:srgbClr val="3D3F43"/>
                </a:solidFill>
                <a:latin typeface="Arial"/>
              </a:rPr>
              <a:t>One REST API, installed inside the insurer's own Google Cloud project, so claim data never leaves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Everything an adjuster needs for a first-pass review, in one screen</a:t>
            </a:r>
          </a:p>
        </p:txBody>
      </p:sp>
      <p:sp>
        <p:nvSpPr>
          <p:cNvPr id="89" name="Rounded Rectangle 88"/>
          <p:cNvSpPr/>
          <p:nvPr/>
        </p:nvSpPr>
        <p:spPr>
          <a:xfrm>
            <a:off x="320040" y="1645920"/>
            <a:ext cx="2682240" cy="14630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Box 89"/>
          <p:cNvSpPr txBox="1"/>
          <p:nvPr/>
        </p:nvSpPr>
        <p:spPr>
          <a:xfrm>
            <a:off x="484632" y="1792224"/>
            <a:ext cx="457200" cy="274320"/>
          </a:xfrm>
          <a:prstGeom prst="rect">
            <a:avLst/>
          </a:prstGeom>
          <a:noFill/>
        </p:spPr>
        <p:txBody>
          <a:bodyPr wrap="square" lIns="0" tIns="0" rIns="0" bIns="0" anchor="t">
            <a:spAutoFit/>
          </a:bodyPr>
          <a:lstStyle/>
          <a:p>
            <a:pPr algn="l">
              <a:lnSpc>
                <a:spcPct val="115000"/>
              </a:lnSpc>
              <a:spcAft>
                <a:spcPts val="400"/>
              </a:spcAft>
            </a:pPr>
            <a:r>
              <a:rPr sz="1000" b="1" i="0">
                <a:solidFill>
                  <a:srgbClr val="1F3A5F"/>
                </a:solidFill>
                <a:latin typeface="Arial"/>
              </a:rPr>
              <a:t>01</a:t>
            </a:r>
          </a:p>
        </p:txBody>
      </p:sp>
      <p:sp>
        <p:nvSpPr>
          <p:cNvPr id="91" name="TextBox 90"/>
          <p:cNvSpPr txBox="1"/>
          <p:nvPr/>
        </p:nvSpPr>
        <p:spPr>
          <a:xfrm>
            <a:off x="484632" y="2029968"/>
            <a:ext cx="2353056" cy="27432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Reads the whole claim</a:t>
            </a:r>
          </a:p>
        </p:txBody>
      </p:sp>
      <p:sp>
        <p:nvSpPr>
          <p:cNvPr id="92" name="TextBox 91"/>
          <p:cNvSpPr txBox="1"/>
          <p:nvPr/>
        </p:nvSpPr>
        <p:spPr>
          <a:xfrm>
            <a:off x="484632" y="2350008"/>
            <a:ext cx="2353056" cy="73152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Photos, invoices, receipts, estimates and police reports, as images or PDFs, in a single Gemini request.</a:t>
            </a:r>
          </a:p>
        </p:txBody>
      </p:sp>
      <p:sp>
        <p:nvSpPr>
          <p:cNvPr id="93" name="Rounded Rectangle 92"/>
          <p:cNvSpPr/>
          <p:nvPr/>
        </p:nvSpPr>
        <p:spPr>
          <a:xfrm>
            <a:off x="3230880" y="1645920"/>
            <a:ext cx="2682240" cy="14630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Box 93"/>
          <p:cNvSpPr txBox="1"/>
          <p:nvPr/>
        </p:nvSpPr>
        <p:spPr>
          <a:xfrm>
            <a:off x="3395472" y="1792224"/>
            <a:ext cx="457200" cy="274320"/>
          </a:xfrm>
          <a:prstGeom prst="rect">
            <a:avLst/>
          </a:prstGeom>
          <a:noFill/>
        </p:spPr>
        <p:txBody>
          <a:bodyPr wrap="square" lIns="0" tIns="0" rIns="0" bIns="0" anchor="t">
            <a:spAutoFit/>
          </a:bodyPr>
          <a:lstStyle/>
          <a:p>
            <a:pPr algn="l">
              <a:lnSpc>
                <a:spcPct val="115000"/>
              </a:lnSpc>
              <a:spcAft>
                <a:spcPts val="400"/>
              </a:spcAft>
            </a:pPr>
            <a:r>
              <a:rPr sz="1000" b="1" i="0">
                <a:solidFill>
                  <a:srgbClr val="1F3A5F"/>
                </a:solidFill>
                <a:latin typeface="Arial"/>
              </a:rPr>
              <a:t>02</a:t>
            </a:r>
          </a:p>
        </p:txBody>
      </p:sp>
      <p:sp>
        <p:nvSpPr>
          <p:cNvPr id="95" name="TextBox 94"/>
          <p:cNvSpPr txBox="1"/>
          <p:nvPr/>
        </p:nvSpPr>
        <p:spPr>
          <a:xfrm>
            <a:off x="3395472" y="2029968"/>
            <a:ext cx="2353056" cy="27432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Cross-checks the evidence</a:t>
            </a:r>
          </a:p>
        </p:txBody>
      </p:sp>
      <p:sp>
        <p:nvSpPr>
          <p:cNvPr id="96" name="TextBox 95"/>
          <p:cNvSpPr txBox="1"/>
          <p:nvPr/>
        </p:nvSpPr>
        <p:spPr>
          <a:xfrm>
            <a:off x="3395472" y="2350008"/>
            <a:ext cx="2353056" cy="73152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Timelines, damage against repairs, invoice arithmetic, the statement against third-party reports.</a:t>
            </a:r>
          </a:p>
        </p:txBody>
      </p:sp>
      <p:sp>
        <p:nvSpPr>
          <p:cNvPr id="97" name="Rounded Rectangle 96"/>
          <p:cNvSpPr/>
          <p:nvPr/>
        </p:nvSpPr>
        <p:spPr>
          <a:xfrm>
            <a:off x="6141720" y="1645920"/>
            <a:ext cx="2682240" cy="14630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p:cNvSpPr txBox="1"/>
          <p:nvPr/>
        </p:nvSpPr>
        <p:spPr>
          <a:xfrm>
            <a:off x="6306312" y="1792224"/>
            <a:ext cx="457200" cy="274320"/>
          </a:xfrm>
          <a:prstGeom prst="rect">
            <a:avLst/>
          </a:prstGeom>
          <a:noFill/>
        </p:spPr>
        <p:txBody>
          <a:bodyPr wrap="square" lIns="0" tIns="0" rIns="0" bIns="0" anchor="t">
            <a:spAutoFit/>
          </a:bodyPr>
          <a:lstStyle/>
          <a:p>
            <a:pPr algn="l">
              <a:lnSpc>
                <a:spcPct val="115000"/>
              </a:lnSpc>
              <a:spcAft>
                <a:spcPts val="400"/>
              </a:spcAft>
            </a:pPr>
            <a:r>
              <a:rPr sz="1000" b="1" i="0">
                <a:solidFill>
                  <a:srgbClr val="1F3A5F"/>
                </a:solidFill>
                <a:latin typeface="Arial"/>
              </a:rPr>
              <a:t>03</a:t>
            </a:r>
          </a:p>
        </p:txBody>
      </p:sp>
      <p:sp>
        <p:nvSpPr>
          <p:cNvPr id="99" name="TextBox 98"/>
          <p:cNvSpPr txBox="1"/>
          <p:nvPr/>
        </p:nvSpPr>
        <p:spPr>
          <a:xfrm>
            <a:off x="6306312" y="2029968"/>
            <a:ext cx="2353056" cy="27432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Policy rule floor</a:t>
            </a:r>
          </a:p>
        </p:txBody>
      </p:sp>
      <p:sp>
        <p:nvSpPr>
          <p:cNvPr id="100" name="TextBox 99"/>
          <p:cNvSpPr txBox="1"/>
          <p:nvPr/>
        </p:nvSpPr>
        <p:spPr>
          <a:xfrm>
            <a:off x="6306312" y="2350008"/>
            <a:ext cx="2353056" cy="73152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Coverage limits, brand-new policies, late reporting and claim frequency. Thresholds are set per insurer.</a:t>
            </a:r>
          </a:p>
        </p:txBody>
      </p:sp>
      <p:sp>
        <p:nvSpPr>
          <p:cNvPr id="101" name="Rounded Rectangle 100"/>
          <p:cNvSpPr/>
          <p:nvPr/>
        </p:nvSpPr>
        <p:spPr>
          <a:xfrm>
            <a:off x="320040" y="3310128"/>
            <a:ext cx="2682240" cy="14630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484632" y="3456432"/>
            <a:ext cx="457200" cy="274320"/>
          </a:xfrm>
          <a:prstGeom prst="rect">
            <a:avLst/>
          </a:prstGeom>
          <a:noFill/>
        </p:spPr>
        <p:txBody>
          <a:bodyPr wrap="square" lIns="0" tIns="0" rIns="0" bIns="0" anchor="t">
            <a:spAutoFit/>
          </a:bodyPr>
          <a:lstStyle/>
          <a:p>
            <a:pPr algn="l">
              <a:lnSpc>
                <a:spcPct val="115000"/>
              </a:lnSpc>
              <a:spcAft>
                <a:spcPts val="400"/>
              </a:spcAft>
            </a:pPr>
            <a:r>
              <a:rPr sz="1000" b="1" i="0">
                <a:solidFill>
                  <a:srgbClr val="1F3A5F"/>
                </a:solidFill>
                <a:latin typeface="Arial"/>
              </a:rPr>
              <a:t>04</a:t>
            </a:r>
          </a:p>
        </p:txBody>
      </p:sp>
      <p:sp>
        <p:nvSpPr>
          <p:cNvPr id="103" name="TextBox 102"/>
          <p:cNvSpPr txBox="1"/>
          <p:nvPr/>
        </p:nvSpPr>
        <p:spPr>
          <a:xfrm>
            <a:off x="484632" y="3694176"/>
            <a:ext cx="2353056" cy="27432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Explainable verdict</a:t>
            </a:r>
          </a:p>
        </p:txBody>
      </p:sp>
      <p:sp>
        <p:nvSpPr>
          <p:cNvPr id="104" name="TextBox 103"/>
          <p:cNvSpPr txBox="1"/>
          <p:nvPr/>
        </p:nvSpPr>
        <p:spPr>
          <a:xfrm>
            <a:off x="484632" y="4014216"/>
            <a:ext cx="2353056" cy="73152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A 0 to 100 risk score and approve, review or investigate, with every finding tied to its source file.</a:t>
            </a:r>
          </a:p>
        </p:txBody>
      </p:sp>
      <p:sp>
        <p:nvSpPr>
          <p:cNvPr id="105" name="Rounded Rectangle 104"/>
          <p:cNvSpPr/>
          <p:nvPr/>
        </p:nvSpPr>
        <p:spPr>
          <a:xfrm>
            <a:off x="3230880" y="3310128"/>
            <a:ext cx="2682240" cy="14630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p:cNvSpPr txBox="1"/>
          <p:nvPr/>
        </p:nvSpPr>
        <p:spPr>
          <a:xfrm>
            <a:off x="3395472" y="3456432"/>
            <a:ext cx="457200" cy="274320"/>
          </a:xfrm>
          <a:prstGeom prst="rect">
            <a:avLst/>
          </a:prstGeom>
          <a:noFill/>
        </p:spPr>
        <p:txBody>
          <a:bodyPr wrap="square" lIns="0" tIns="0" rIns="0" bIns="0" anchor="t">
            <a:spAutoFit/>
          </a:bodyPr>
          <a:lstStyle/>
          <a:p>
            <a:pPr algn="l">
              <a:lnSpc>
                <a:spcPct val="115000"/>
              </a:lnSpc>
              <a:spcAft>
                <a:spcPts val="400"/>
              </a:spcAft>
            </a:pPr>
            <a:r>
              <a:rPr sz="1000" b="1" i="0">
                <a:solidFill>
                  <a:srgbClr val="1F3A5F"/>
                </a:solidFill>
                <a:latin typeface="Arial"/>
              </a:rPr>
              <a:t>05</a:t>
            </a:r>
          </a:p>
        </p:txBody>
      </p:sp>
      <p:sp>
        <p:nvSpPr>
          <p:cNvPr id="107" name="TextBox 106"/>
          <p:cNvSpPr txBox="1"/>
          <p:nvPr/>
        </p:nvSpPr>
        <p:spPr>
          <a:xfrm>
            <a:off x="3395472" y="3694176"/>
            <a:ext cx="2353056" cy="27432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Ask about the claim</a:t>
            </a:r>
          </a:p>
        </p:txBody>
      </p:sp>
      <p:sp>
        <p:nvSpPr>
          <p:cNvPr id="108" name="TextBox 107"/>
          <p:cNvSpPr txBox="1"/>
          <p:nvPr/>
        </p:nvSpPr>
        <p:spPr>
          <a:xfrm>
            <a:off x="3395472" y="4014216"/>
            <a:ext cx="2353056" cy="73152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Follow-up questions and polite document requests to the claimant, answered only from that claim's record.</a:t>
            </a:r>
          </a:p>
        </p:txBody>
      </p:sp>
      <p:sp>
        <p:nvSpPr>
          <p:cNvPr id="109" name="Rounded Rectangle 108"/>
          <p:cNvSpPr/>
          <p:nvPr/>
        </p:nvSpPr>
        <p:spPr>
          <a:xfrm>
            <a:off x="6141720" y="3310128"/>
            <a:ext cx="2682240" cy="14630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TextBox 109"/>
          <p:cNvSpPr txBox="1"/>
          <p:nvPr/>
        </p:nvSpPr>
        <p:spPr>
          <a:xfrm>
            <a:off x="6306312" y="3456432"/>
            <a:ext cx="457200" cy="274320"/>
          </a:xfrm>
          <a:prstGeom prst="rect">
            <a:avLst/>
          </a:prstGeom>
          <a:noFill/>
        </p:spPr>
        <p:txBody>
          <a:bodyPr wrap="square" lIns="0" tIns="0" rIns="0" bIns="0" anchor="t">
            <a:spAutoFit/>
          </a:bodyPr>
          <a:lstStyle/>
          <a:p>
            <a:pPr algn="l">
              <a:lnSpc>
                <a:spcPct val="115000"/>
              </a:lnSpc>
              <a:spcAft>
                <a:spcPts val="400"/>
              </a:spcAft>
            </a:pPr>
            <a:r>
              <a:rPr sz="1000" b="1" i="0">
                <a:solidFill>
                  <a:srgbClr val="1F3A5F"/>
                </a:solidFill>
                <a:latin typeface="Arial"/>
              </a:rPr>
              <a:t>06</a:t>
            </a:r>
          </a:p>
        </p:txBody>
      </p:sp>
      <p:sp>
        <p:nvSpPr>
          <p:cNvPr id="111" name="TextBox 110"/>
          <p:cNvSpPr txBox="1"/>
          <p:nvPr/>
        </p:nvSpPr>
        <p:spPr>
          <a:xfrm>
            <a:off x="6306312" y="3694176"/>
            <a:ext cx="2353056" cy="274320"/>
          </a:xfrm>
          <a:prstGeom prst="rect">
            <a:avLst/>
          </a:prstGeom>
          <a:noFill/>
        </p:spPr>
        <p:txBody>
          <a:bodyPr wrap="square" lIns="0" tIns="0" rIns="0" bIns="0" anchor="t">
            <a:spAutoFit/>
          </a:bodyPr>
          <a:lstStyle/>
          <a:p>
            <a:pPr algn="l">
              <a:lnSpc>
                <a:spcPct val="115000"/>
              </a:lnSpc>
              <a:spcAft>
                <a:spcPts val="400"/>
              </a:spcAft>
            </a:pPr>
            <a:r>
              <a:rPr sz="1250" b="1" i="0">
                <a:solidFill>
                  <a:srgbClr val="1C1D1F"/>
                </a:solidFill>
                <a:latin typeface="Arial"/>
              </a:rPr>
              <a:t>Ready to integrate</a:t>
            </a:r>
          </a:p>
        </p:txBody>
      </p:sp>
      <p:sp>
        <p:nvSpPr>
          <p:cNvPr id="112" name="TextBox 111"/>
          <p:cNvSpPr txBox="1"/>
          <p:nvPr/>
        </p:nvSpPr>
        <p:spPr>
          <a:xfrm>
            <a:off x="6306312" y="4014216"/>
            <a:ext cx="2353056" cy="73152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Authenticated /v1 REST API, OpenAPI docs, your own claim number carried through, printable reports.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Process flow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From a new claim to an adjuster decision in about half a minute</a:t>
            </a:r>
          </a:p>
        </p:txBody>
      </p:sp>
      <p:sp>
        <p:nvSpPr>
          <p:cNvPr id="97" name="Rounded Rectangle 96"/>
          <p:cNvSpPr/>
          <p:nvPr/>
        </p:nvSpPr>
        <p:spPr>
          <a:xfrm>
            <a:off x="320040" y="2514600"/>
            <a:ext cx="1600200" cy="12344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p:cNvSpPr txBox="1"/>
          <p:nvPr/>
        </p:nvSpPr>
        <p:spPr>
          <a:xfrm>
            <a:off x="448056" y="2642616"/>
            <a:ext cx="1344168" cy="978408"/>
          </a:xfrm>
          <a:prstGeom prst="rect">
            <a:avLst/>
          </a:prstGeom>
          <a:noFill/>
        </p:spPr>
        <p:txBody>
          <a:bodyPr wrap="square" lIns="0" tIns="0" rIns="0" bIns="0" anchor="t">
            <a:spAutoFit/>
          </a:bodyPr>
          <a:lstStyle/>
          <a:p>
            <a:pPr algn="l">
              <a:lnSpc>
                <a:spcPct val="115000"/>
              </a:lnSpc>
              <a:spcAft>
                <a:spcPts val="400"/>
              </a:spcAft>
            </a:pPr>
            <a:r>
              <a:rPr sz="1150" b="1" i="0">
                <a:solidFill>
                  <a:srgbClr val="1C1D1F"/>
                </a:solidFill>
                <a:latin typeface="Arial"/>
              </a:rPr>
              <a:t>Claim arrives</a:t>
            </a:r>
          </a:p>
          <a:p>
            <a:pPr algn="l">
              <a:lnSpc>
                <a:spcPct val="115000"/>
              </a:lnSpc>
              <a:spcAft>
                <a:spcPts val="400"/>
              </a:spcAft>
            </a:pPr>
            <a:r>
              <a:rPr sz="950" b="0" i="0">
                <a:solidFill>
                  <a:srgbClr val="3D3F43"/>
                </a:solidFill>
                <a:latin typeface="Arial"/>
              </a:rPr>
              <a:t>Statement, policy details, photos and documents, from the app or the /v1 API</a:t>
            </a:r>
          </a:p>
        </p:txBody>
      </p:sp>
      <p:sp>
        <p:nvSpPr>
          <p:cNvPr id="99" name="Rounded Rectangle 98"/>
          <p:cNvSpPr/>
          <p:nvPr/>
        </p:nvSpPr>
        <p:spPr>
          <a:xfrm>
            <a:off x="2331720" y="1828800"/>
            <a:ext cx="2148840" cy="1188720"/>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p:cNvSpPr txBox="1"/>
          <p:nvPr/>
        </p:nvSpPr>
        <p:spPr>
          <a:xfrm>
            <a:off x="2459736" y="1956816"/>
            <a:ext cx="1892808" cy="932688"/>
          </a:xfrm>
          <a:prstGeom prst="rect">
            <a:avLst/>
          </a:prstGeom>
          <a:noFill/>
        </p:spPr>
        <p:txBody>
          <a:bodyPr wrap="square" lIns="0" tIns="0" rIns="0" bIns="0" anchor="t">
            <a:spAutoFit/>
          </a:bodyPr>
          <a:lstStyle/>
          <a:p>
            <a:pPr algn="l">
              <a:lnSpc>
                <a:spcPct val="115000"/>
              </a:lnSpc>
              <a:spcAft>
                <a:spcPts val="400"/>
              </a:spcAft>
            </a:pPr>
            <a:r>
              <a:rPr sz="1150" b="1" i="0">
                <a:solidFill>
                  <a:srgbClr val="1C1D1F"/>
                </a:solidFill>
                <a:latin typeface="Arial"/>
              </a:rPr>
              <a:t>Gemini 2.5 Flash on Vertex AI</a:t>
            </a:r>
          </a:p>
          <a:p>
            <a:pPr algn="l">
              <a:lnSpc>
                <a:spcPct val="115000"/>
              </a:lnSpc>
              <a:spcAft>
                <a:spcPts val="400"/>
              </a:spcAft>
            </a:pPr>
            <a:r>
              <a:rPr sz="950" b="0" i="0">
                <a:solidFill>
                  <a:srgbClr val="3D3F43"/>
                </a:solidFill>
                <a:latin typeface="Arial"/>
              </a:rPr>
              <a:t>Extracts facts from each file, describes the photos, compares every source with every other</a:t>
            </a:r>
          </a:p>
        </p:txBody>
      </p:sp>
      <p:sp>
        <p:nvSpPr>
          <p:cNvPr id="101" name="Rounded Rectangle 100"/>
          <p:cNvSpPr/>
          <p:nvPr/>
        </p:nvSpPr>
        <p:spPr>
          <a:xfrm>
            <a:off x="2331720" y="3291840"/>
            <a:ext cx="2148840" cy="118872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2459736" y="3419856"/>
            <a:ext cx="1892808" cy="932688"/>
          </a:xfrm>
          <a:prstGeom prst="rect">
            <a:avLst/>
          </a:prstGeom>
          <a:noFill/>
        </p:spPr>
        <p:txBody>
          <a:bodyPr wrap="square" lIns="0" tIns="0" rIns="0" bIns="0" anchor="t">
            <a:spAutoFit/>
          </a:bodyPr>
          <a:lstStyle/>
          <a:p>
            <a:pPr algn="l">
              <a:lnSpc>
                <a:spcPct val="115000"/>
              </a:lnSpc>
              <a:spcAft>
                <a:spcPts val="400"/>
              </a:spcAft>
            </a:pPr>
            <a:r>
              <a:rPr sz="1150" b="1" i="0">
                <a:solidFill>
                  <a:srgbClr val="1C1D1F"/>
                </a:solidFill>
                <a:latin typeface="Arial"/>
              </a:rPr>
              <a:t>Policy rule engine</a:t>
            </a:r>
          </a:p>
          <a:p>
            <a:pPr algn="l">
              <a:lnSpc>
                <a:spcPct val="115000"/>
              </a:lnSpc>
              <a:spcAft>
                <a:spcPts val="400"/>
              </a:spcAft>
            </a:pPr>
            <a:r>
              <a:rPr sz="950" b="0" i="0">
                <a:solidFill>
                  <a:srgbClr val="3D3F43"/>
                </a:solidFill>
                <a:latin typeface="Arial"/>
              </a:rPr>
              <a:t>Coverage limit, policy age, late reporting, claim frequency. Plain, testable code</a:t>
            </a:r>
          </a:p>
        </p:txBody>
      </p:sp>
      <p:sp>
        <p:nvSpPr>
          <p:cNvPr id="103" name="Rounded Rectangle 102"/>
          <p:cNvSpPr/>
          <p:nvPr/>
        </p:nvSpPr>
        <p:spPr>
          <a:xfrm>
            <a:off x="4846320" y="2514600"/>
            <a:ext cx="1463040" cy="12344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103"/>
          <p:cNvSpPr txBox="1"/>
          <p:nvPr/>
        </p:nvSpPr>
        <p:spPr>
          <a:xfrm>
            <a:off x="4974336" y="2642616"/>
            <a:ext cx="1207008" cy="978408"/>
          </a:xfrm>
          <a:prstGeom prst="rect">
            <a:avLst/>
          </a:prstGeom>
          <a:noFill/>
        </p:spPr>
        <p:txBody>
          <a:bodyPr wrap="square" lIns="0" tIns="0" rIns="0" bIns="0" anchor="t">
            <a:spAutoFit/>
          </a:bodyPr>
          <a:lstStyle/>
          <a:p>
            <a:pPr algn="l">
              <a:lnSpc>
                <a:spcPct val="115000"/>
              </a:lnSpc>
              <a:spcAft>
                <a:spcPts val="400"/>
              </a:spcAft>
            </a:pPr>
            <a:r>
              <a:rPr sz="1150" b="1" i="0">
                <a:solidFill>
                  <a:srgbClr val="1C1D1F"/>
                </a:solidFill>
                <a:latin typeface="Arial"/>
              </a:rPr>
              <a:t>Final score</a:t>
            </a:r>
          </a:p>
          <a:p>
            <a:pPr algn="l">
              <a:lnSpc>
                <a:spcPct val="115000"/>
              </a:lnSpc>
              <a:spcAft>
                <a:spcPts val="400"/>
              </a:spcAft>
            </a:pPr>
            <a:r>
              <a:rPr sz="950" b="0" i="0">
                <a:solidFill>
                  <a:srgbClr val="3D3F43"/>
                </a:solidFill>
                <a:latin typeface="Arial"/>
              </a:rPr>
              <a:t>The higher of the model score and the rule minimum</a:t>
            </a:r>
          </a:p>
        </p:txBody>
      </p:sp>
      <p:sp>
        <p:nvSpPr>
          <p:cNvPr id="105" name="Rounded Rectangle 104"/>
          <p:cNvSpPr/>
          <p:nvPr/>
        </p:nvSpPr>
        <p:spPr>
          <a:xfrm>
            <a:off x="6720840" y="1783080"/>
            <a:ext cx="2103120" cy="777240"/>
          </a:xfrm>
          <a:prstGeom prst="roundRect">
            <a:avLst>
              <a:gd name="adj" fmla="val 6000"/>
            </a:avLst>
          </a:prstGeom>
          <a:solidFill>
            <a:srgbClr val="EC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p:cNvSpPr txBox="1"/>
          <p:nvPr/>
        </p:nvSpPr>
        <p:spPr>
          <a:xfrm>
            <a:off x="6848855" y="1911095"/>
            <a:ext cx="1847087" cy="521207"/>
          </a:xfrm>
          <a:prstGeom prst="rect">
            <a:avLst/>
          </a:prstGeom>
          <a:noFill/>
        </p:spPr>
        <p:txBody>
          <a:bodyPr wrap="square" lIns="0" tIns="0" rIns="0" bIns="0" anchor="t">
            <a:spAutoFit/>
          </a:bodyPr>
          <a:lstStyle/>
          <a:p>
            <a:pPr algn="l">
              <a:lnSpc>
                <a:spcPct val="115000"/>
              </a:lnSpc>
              <a:spcAft>
                <a:spcPts val="400"/>
              </a:spcAft>
            </a:pPr>
            <a:r>
              <a:rPr sz="1150" b="1" i="0">
                <a:solidFill>
                  <a:srgbClr val="3D6B4F"/>
                </a:solidFill>
                <a:latin typeface="Arial"/>
              </a:rPr>
              <a:t>Approve</a:t>
            </a:r>
          </a:p>
          <a:p>
            <a:pPr algn="l">
              <a:lnSpc>
                <a:spcPct val="115000"/>
              </a:lnSpc>
              <a:spcAft>
                <a:spcPts val="400"/>
              </a:spcAft>
            </a:pPr>
            <a:r>
              <a:rPr sz="950" b="0" i="0">
                <a:solidFill>
                  <a:srgbClr val="3D3F43"/>
                </a:solidFill>
                <a:latin typeface="Arial"/>
              </a:rPr>
              <a:t>Fast-track a consistent claim</a:t>
            </a:r>
          </a:p>
        </p:txBody>
      </p:sp>
      <p:cxnSp>
        <p:nvCxnSpPr>
          <p:cNvPr id="107" name="Connector 106"/>
          <p:cNvCxnSpPr/>
          <p:nvPr/>
        </p:nvCxnSpPr>
        <p:spPr>
          <a:xfrm flipV="1">
            <a:off x="6309360" y="2167128"/>
            <a:ext cx="411480" cy="96012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 name="Rounded Rectangle 107"/>
          <p:cNvSpPr/>
          <p:nvPr/>
        </p:nvSpPr>
        <p:spPr>
          <a:xfrm>
            <a:off x="6720840" y="2715768"/>
            <a:ext cx="2103120" cy="777240"/>
          </a:xfrm>
          <a:prstGeom prst="roundRect">
            <a:avLst>
              <a:gd name="adj" fmla="val 6000"/>
            </a:avLst>
          </a:prstGeom>
          <a:solidFill>
            <a:srgbClr val="F6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Box 108"/>
          <p:cNvSpPr txBox="1"/>
          <p:nvPr/>
        </p:nvSpPr>
        <p:spPr>
          <a:xfrm>
            <a:off x="6848855" y="2843784"/>
            <a:ext cx="1847087" cy="521207"/>
          </a:xfrm>
          <a:prstGeom prst="rect">
            <a:avLst/>
          </a:prstGeom>
          <a:noFill/>
        </p:spPr>
        <p:txBody>
          <a:bodyPr wrap="square" lIns="0" tIns="0" rIns="0" bIns="0" anchor="t">
            <a:spAutoFit/>
          </a:bodyPr>
          <a:lstStyle/>
          <a:p>
            <a:pPr algn="l">
              <a:lnSpc>
                <a:spcPct val="115000"/>
              </a:lnSpc>
              <a:spcAft>
                <a:spcPts val="400"/>
              </a:spcAft>
            </a:pPr>
            <a:r>
              <a:rPr sz="1150" b="1" i="0">
                <a:solidFill>
                  <a:srgbClr val="8A6A1F"/>
                </a:solidFill>
                <a:latin typeface="Arial"/>
              </a:rPr>
              <a:t>Manual review</a:t>
            </a:r>
          </a:p>
          <a:p>
            <a:pPr algn="l">
              <a:lnSpc>
                <a:spcPct val="115000"/>
              </a:lnSpc>
              <a:spcAft>
                <a:spcPts val="400"/>
              </a:spcAft>
            </a:pPr>
            <a:r>
              <a:rPr sz="950" b="0" i="0">
                <a:solidFill>
                  <a:srgbClr val="3D3F43"/>
                </a:solidFill>
                <a:latin typeface="Arial"/>
              </a:rPr>
              <a:t>An adjuster checks the open points</a:t>
            </a:r>
          </a:p>
        </p:txBody>
      </p:sp>
      <p:cxnSp>
        <p:nvCxnSpPr>
          <p:cNvPr id="110" name="Connector 109"/>
          <p:cNvCxnSpPr/>
          <p:nvPr/>
        </p:nvCxnSpPr>
        <p:spPr>
          <a:xfrm flipV="1">
            <a:off x="6309360" y="3099815"/>
            <a:ext cx="411480" cy="27433"/>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6720840" y="3648456"/>
            <a:ext cx="2103120" cy="777240"/>
          </a:xfrm>
          <a:prstGeom prst="roundRect">
            <a:avLst>
              <a:gd name="adj" fmla="val 6000"/>
            </a:avLst>
          </a:prstGeom>
          <a:solidFill>
            <a:srgbClr val="F6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Box 111"/>
          <p:cNvSpPr txBox="1"/>
          <p:nvPr/>
        </p:nvSpPr>
        <p:spPr>
          <a:xfrm>
            <a:off x="6848855" y="3776472"/>
            <a:ext cx="1847087" cy="521207"/>
          </a:xfrm>
          <a:prstGeom prst="rect">
            <a:avLst/>
          </a:prstGeom>
          <a:noFill/>
        </p:spPr>
        <p:txBody>
          <a:bodyPr wrap="square" lIns="0" tIns="0" rIns="0" bIns="0" anchor="t">
            <a:spAutoFit/>
          </a:bodyPr>
          <a:lstStyle/>
          <a:p>
            <a:pPr algn="l">
              <a:lnSpc>
                <a:spcPct val="115000"/>
              </a:lnSpc>
              <a:spcAft>
                <a:spcPts val="400"/>
              </a:spcAft>
            </a:pPr>
            <a:r>
              <a:rPr sz="1150" b="1" i="0">
                <a:solidFill>
                  <a:srgbClr val="9A3B2E"/>
                </a:solidFill>
                <a:latin typeface="Arial"/>
              </a:rPr>
              <a:t>Investigate</a:t>
            </a:r>
          </a:p>
          <a:p>
            <a:pPr algn="l">
              <a:lnSpc>
                <a:spcPct val="115000"/>
              </a:lnSpc>
              <a:spcAft>
                <a:spcPts val="400"/>
              </a:spcAft>
            </a:pPr>
            <a:r>
              <a:rPr sz="950" b="0" i="0">
                <a:solidFill>
                  <a:srgbClr val="3D3F43"/>
                </a:solidFill>
                <a:latin typeface="Arial"/>
              </a:rPr>
              <a:t>Route to the fraud team with evidence</a:t>
            </a:r>
          </a:p>
        </p:txBody>
      </p:sp>
      <p:cxnSp>
        <p:nvCxnSpPr>
          <p:cNvPr id="113" name="Connector 112"/>
          <p:cNvCxnSpPr/>
          <p:nvPr/>
        </p:nvCxnSpPr>
        <p:spPr>
          <a:xfrm>
            <a:off x="6309360" y="3127248"/>
            <a:ext cx="411480" cy="905256"/>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920240" y="2423160"/>
            <a:ext cx="411480" cy="704088"/>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920240" y="3127248"/>
            <a:ext cx="411480" cy="758952"/>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4480560" y="2423160"/>
            <a:ext cx="365760" cy="59436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4480560" y="3246120"/>
            <a:ext cx="365760" cy="64008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320040" y="4572000"/>
            <a:ext cx="8503920" cy="27432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At every step the adjuster can open the evidence, ask ClaimGuard a follow-up question, or print the assessment for the claim file. ClaimGuard never approves or denies a claim on its own.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9"/>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Wireframes and mock diagrams of the proposed solution</a:t>
            </a:r>
            <a:endParaRPr sz="1600">
              <a:latin typeface="Google Sans Flex Medium"/>
              <a:ea typeface="Google Sans Flex Medium"/>
              <a:cs typeface="Google Sans Flex Medium"/>
              <a:sym typeface="Google Sans Flex Medium"/>
            </a:endParaRPr>
          </a:p>
        </p:txBody>
      </p:sp>
      <p:sp>
        <p:nvSpPr>
          <p:cNvPr id="104" name="TextBox 103"/>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Three ways in: a product page, an adjuster app and an API</a:t>
            </a:r>
          </a:p>
        </p:txBody>
      </p:sp>
      <p:pic>
        <p:nvPicPr>
          <p:cNvPr id="105" name="Picture 104" descr="landing.png"/>
          <p:cNvPicPr>
            <a:picLocks noChangeAspect="1"/>
          </p:cNvPicPr>
          <p:nvPr/>
        </p:nvPicPr>
        <p:blipFill>
          <a:blip r:embed="rId5"/>
          <a:stretch>
            <a:fillRect/>
          </a:stretch>
        </p:blipFill>
        <p:spPr>
          <a:xfrm>
            <a:off x="320040" y="1600200"/>
            <a:ext cx="2712720" cy="1695450"/>
          </a:xfrm>
          <a:prstGeom prst="rect">
            <a:avLst/>
          </a:prstGeom>
          <a:ln w="9525">
            <a:solidFill>
              <a:srgbClr val="DDDFE3"/>
            </a:solidFill>
          </a:ln>
        </p:spPr>
      </p:pic>
      <p:sp>
        <p:nvSpPr>
          <p:cNvPr id="106" name="TextBox 105"/>
          <p:cNvSpPr txBox="1"/>
          <p:nvPr/>
        </p:nvSpPr>
        <p:spPr>
          <a:xfrm>
            <a:off x="320040" y="3368802"/>
            <a:ext cx="2712720" cy="27432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Product page for insurers, at /</a:t>
            </a:r>
          </a:p>
        </p:txBody>
      </p:sp>
      <p:pic>
        <p:nvPicPr>
          <p:cNvPr id="107" name="Picture 106" descr="result1.png"/>
          <p:cNvPicPr>
            <a:picLocks noChangeAspect="1"/>
          </p:cNvPicPr>
          <p:nvPr/>
        </p:nvPicPr>
        <p:blipFill>
          <a:blip r:embed="rId6"/>
          <a:stretch>
            <a:fillRect/>
          </a:stretch>
        </p:blipFill>
        <p:spPr>
          <a:xfrm>
            <a:off x="3215640" y="1600200"/>
            <a:ext cx="2712720" cy="1695450"/>
          </a:xfrm>
          <a:prstGeom prst="rect">
            <a:avLst/>
          </a:prstGeom>
          <a:ln w="9525">
            <a:solidFill>
              <a:srgbClr val="DDDFE3"/>
            </a:solidFill>
          </a:ln>
        </p:spPr>
      </p:pic>
      <p:sp>
        <p:nvSpPr>
          <p:cNvPr id="108" name="TextBox 107"/>
          <p:cNvSpPr txBox="1"/>
          <p:nvPr/>
        </p:nvSpPr>
        <p:spPr>
          <a:xfrm>
            <a:off x="3215640" y="3368802"/>
            <a:ext cx="2712720" cy="27432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Adjuster app, at /app</a:t>
            </a:r>
          </a:p>
        </p:txBody>
      </p:sp>
      <p:pic>
        <p:nvPicPr>
          <p:cNvPr id="109" name="Picture 108" descr="docs.png"/>
          <p:cNvPicPr>
            <a:picLocks noChangeAspect="1"/>
          </p:cNvPicPr>
          <p:nvPr/>
        </p:nvPicPr>
        <p:blipFill>
          <a:blip r:embed="rId7"/>
          <a:stretch>
            <a:fillRect/>
          </a:stretch>
        </p:blipFill>
        <p:spPr>
          <a:xfrm>
            <a:off x="6111240" y="1600200"/>
            <a:ext cx="2712720" cy="1695450"/>
          </a:xfrm>
          <a:prstGeom prst="rect">
            <a:avLst/>
          </a:prstGeom>
          <a:ln w="9525">
            <a:solidFill>
              <a:srgbClr val="DDDFE3"/>
            </a:solidFill>
          </a:ln>
        </p:spPr>
      </p:pic>
      <p:sp>
        <p:nvSpPr>
          <p:cNvPr id="110" name="TextBox 109"/>
          <p:cNvSpPr txBox="1"/>
          <p:nvPr/>
        </p:nvSpPr>
        <p:spPr>
          <a:xfrm>
            <a:off x="6111240" y="3368802"/>
            <a:ext cx="2712720" cy="27432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Integration API reference, at /docs</a:t>
            </a:r>
          </a:p>
        </p:txBody>
      </p:sp>
      <p:sp>
        <p:nvSpPr>
          <p:cNvPr id="111" name="TextBox 110"/>
          <p:cNvSpPr txBox="1"/>
          <p:nvPr/>
        </p:nvSpPr>
        <p:spPr>
          <a:xfrm>
            <a:off x="320040" y="3886200"/>
            <a:ext cx="8503920" cy="914400"/>
          </a:xfrm>
          <a:prstGeom prst="rect">
            <a:avLst/>
          </a:prstGeom>
          <a:noFill/>
        </p:spPr>
        <p:txBody>
          <a:bodyPr wrap="square" lIns="0" tIns="0" rIns="0" bIns="0" anchor="t">
            <a:spAutoFit/>
          </a:bodyPr>
          <a:lstStyle/>
          <a:p>
            <a:pPr algn="l">
              <a:lnSpc>
                <a:spcPct val="115000"/>
              </a:lnSpc>
              <a:spcAft>
                <a:spcPts val="400"/>
              </a:spcAft>
            </a:pPr>
            <a:r>
              <a:rPr sz="1050" b="0" i="0">
                <a:solidFill>
                  <a:srgbClr val="3D3F43"/>
                </a:solidFill>
                <a:latin typeface="Arial"/>
              </a:rPr>
              <a:t>The interface is deliberately plain. Adjusters see the score and recommendation first, then the findings with their sources, then the consistency checks, extracted fields and photo review. Nothing is hidden behind a click.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0"/>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TextBox 111"/>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One small service inside the insurer's own Google Cloud project</a:t>
            </a:r>
          </a:p>
        </p:txBody>
      </p:sp>
      <p:sp>
        <p:nvSpPr>
          <p:cNvPr id="113" name="Rounded Rectangle 112"/>
          <p:cNvSpPr/>
          <p:nvPr/>
        </p:nvSpPr>
        <p:spPr>
          <a:xfrm>
            <a:off x="320040" y="1874519"/>
            <a:ext cx="1645920" cy="82296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Box 113"/>
          <p:cNvSpPr txBox="1"/>
          <p:nvPr/>
        </p:nvSpPr>
        <p:spPr>
          <a:xfrm>
            <a:off x="448056" y="2002536"/>
            <a:ext cx="1389888" cy="566928"/>
          </a:xfrm>
          <a:prstGeom prst="rect">
            <a:avLst/>
          </a:prstGeom>
          <a:noFill/>
        </p:spPr>
        <p:txBody>
          <a:bodyPr wrap="square" lIns="0" tIns="0" rIns="0" bIns="0" anchor="t">
            <a:spAutoFit/>
          </a:bodyPr>
          <a:lstStyle/>
          <a:p>
            <a:pPr algn="l">
              <a:lnSpc>
                <a:spcPct val="115000"/>
              </a:lnSpc>
              <a:spcAft>
                <a:spcPts val="400"/>
              </a:spcAft>
            </a:pPr>
            <a:r>
              <a:rPr sz="1100" b="1" i="0">
                <a:solidFill>
                  <a:srgbClr val="1C1D1F"/>
                </a:solidFill>
                <a:latin typeface="Arial"/>
              </a:rPr>
              <a:t>Adjuster</a:t>
            </a:r>
          </a:p>
          <a:p>
            <a:pPr algn="l">
              <a:lnSpc>
                <a:spcPct val="115000"/>
              </a:lnSpc>
              <a:spcAft>
                <a:spcPts val="400"/>
              </a:spcAft>
            </a:pPr>
            <a:r>
              <a:rPr sz="950" b="0" i="0">
                <a:solidFill>
                  <a:srgbClr val="3D3F43"/>
                </a:solidFill>
                <a:latin typeface="Arial"/>
              </a:rPr>
              <a:t>Browser, /app</a:t>
            </a:r>
          </a:p>
        </p:txBody>
      </p:sp>
      <p:sp>
        <p:nvSpPr>
          <p:cNvPr id="115" name="Rounded Rectangle 114"/>
          <p:cNvSpPr/>
          <p:nvPr/>
        </p:nvSpPr>
        <p:spPr>
          <a:xfrm>
            <a:off x="320040" y="3063240"/>
            <a:ext cx="1645920" cy="82296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TextBox 115"/>
          <p:cNvSpPr txBox="1"/>
          <p:nvPr/>
        </p:nvSpPr>
        <p:spPr>
          <a:xfrm>
            <a:off x="448056" y="3191256"/>
            <a:ext cx="1389888" cy="566928"/>
          </a:xfrm>
          <a:prstGeom prst="rect">
            <a:avLst/>
          </a:prstGeom>
          <a:noFill/>
        </p:spPr>
        <p:txBody>
          <a:bodyPr wrap="square" lIns="0" tIns="0" rIns="0" bIns="0" anchor="t">
            <a:spAutoFit/>
          </a:bodyPr>
          <a:lstStyle/>
          <a:p>
            <a:pPr algn="l">
              <a:lnSpc>
                <a:spcPct val="115000"/>
              </a:lnSpc>
              <a:spcAft>
                <a:spcPts val="400"/>
              </a:spcAft>
            </a:pPr>
            <a:r>
              <a:rPr sz="1100" b="1" i="0">
                <a:solidFill>
                  <a:srgbClr val="1C1D1F"/>
                </a:solidFill>
                <a:latin typeface="Arial"/>
              </a:rPr>
              <a:t>Claims system</a:t>
            </a:r>
          </a:p>
          <a:p>
            <a:pPr algn="l">
              <a:lnSpc>
                <a:spcPct val="115000"/>
              </a:lnSpc>
              <a:spcAft>
                <a:spcPts val="400"/>
              </a:spcAft>
            </a:pPr>
            <a:r>
              <a:rPr sz="950" b="0" i="0">
                <a:solidFill>
                  <a:srgbClr val="3D3F43"/>
                </a:solidFill>
                <a:latin typeface="Arial"/>
              </a:rPr>
              <a:t>Calls /v1 with an API key</a:t>
            </a:r>
          </a:p>
        </p:txBody>
      </p:sp>
      <p:sp>
        <p:nvSpPr>
          <p:cNvPr id="117" name="Rounded Rectangle 116"/>
          <p:cNvSpPr/>
          <p:nvPr/>
        </p:nvSpPr>
        <p:spPr>
          <a:xfrm>
            <a:off x="2240280" y="1600200"/>
            <a:ext cx="6583680" cy="2880360"/>
          </a:xfrm>
          <a:prstGeom prst="roundRect">
            <a:avLst>
              <a:gd name="adj" fmla="val 3000"/>
            </a:avLst>
          </a:prstGeom>
          <a:noFill/>
          <a:ln w="9525">
            <a:solidFill>
              <a:srgbClr val="6E707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Box 117"/>
          <p:cNvSpPr txBox="1"/>
          <p:nvPr/>
        </p:nvSpPr>
        <p:spPr>
          <a:xfrm>
            <a:off x="2377440" y="1664208"/>
            <a:ext cx="4572000" cy="274320"/>
          </a:xfrm>
          <a:prstGeom prst="rect">
            <a:avLst/>
          </a:prstGeom>
          <a:noFill/>
        </p:spPr>
        <p:txBody>
          <a:bodyPr wrap="square" lIns="0" tIns="0" rIns="0" bIns="0" anchor="t">
            <a:spAutoFit/>
          </a:bodyPr>
          <a:lstStyle/>
          <a:p>
            <a:pPr algn="l">
              <a:lnSpc>
                <a:spcPct val="115000"/>
              </a:lnSpc>
              <a:spcAft>
                <a:spcPts val="400"/>
              </a:spcAft>
            </a:pPr>
            <a:r>
              <a:rPr sz="950" b="1" i="0">
                <a:solidFill>
                  <a:srgbClr val="6E7076"/>
                </a:solidFill>
                <a:latin typeface="Arial"/>
              </a:rPr>
              <a:t>Insurer's Google Cloud project</a:t>
            </a:r>
          </a:p>
        </p:txBody>
      </p:sp>
      <p:sp>
        <p:nvSpPr>
          <p:cNvPr id="119" name="Rounded Rectangle 118"/>
          <p:cNvSpPr/>
          <p:nvPr/>
        </p:nvSpPr>
        <p:spPr>
          <a:xfrm>
            <a:off x="2468880" y="1965960"/>
            <a:ext cx="3246120" cy="2331720"/>
          </a:xfrm>
          <a:prstGeom prst="roundRect">
            <a:avLst>
              <a:gd name="adj" fmla="val 4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Box 119"/>
          <p:cNvSpPr txBox="1"/>
          <p:nvPr/>
        </p:nvSpPr>
        <p:spPr>
          <a:xfrm>
            <a:off x="2606040" y="2057400"/>
            <a:ext cx="3017520" cy="274320"/>
          </a:xfrm>
          <a:prstGeom prst="rect">
            <a:avLst/>
          </a:prstGeom>
          <a:noFill/>
        </p:spPr>
        <p:txBody>
          <a:bodyPr wrap="square" lIns="0" tIns="0" rIns="0" bIns="0" anchor="t">
            <a:spAutoFit/>
          </a:bodyPr>
          <a:lstStyle/>
          <a:p>
            <a:pPr algn="l">
              <a:lnSpc>
                <a:spcPct val="115000"/>
              </a:lnSpc>
              <a:spcAft>
                <a:spcPts val="400"/>
              </a:spcAft>
            </a:pPr>
            <a:r>
              <a:rPr sz="1150" b="1" i="0">
                <a:solidFill>
                  <a:srgbClr val="1C1D1F"/>
                </a:solidFill>
                <a:latin typeface="Arial"/>
              </a:rPr>
              <a:t>Cloud Run service</a:t>
            </a:r>
          </a:p>
        </p:txBody>
      </p:sp>
      <p:sp>
        <p:nvSpPr>
          <p:cNvPr id="121" name="Rounded Rectangle 120"/>
          <p:cNvSpPr/>
          <p:nvPr/>
        </p:nvSpPr>
        <p:spPr>
          <a:xfrm>
            <a:off x="2606040" y="2395728"/>
            <a:ext cx="2971800" cy="521207"/>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Box 121"/>
          <p:cNvSpPr txBox="1"/>
          <p:nvPr/>
        </p:nvSpPr>
        <p:spPr>
          <a:xfrm>
            <a:off x="2697480" y="2487168"/>
            <a:ext cx="2788920" cy="338327"/>
          </a:xfrm>
          <a:prstGeom prst="rect">
            <a:avLst/>
          </a:prstGeom>
          <a:noFill/>
        </p:spPr>
        <p:txBody>
          <a:bodyPr wrap="square" lIns="0" tIns="0" rIns="0" bIns="0" anchor="ctr">
            <a:spAutoFit/>
          </a:bodyPr>
          <a:lstStyle/>
          <a:p>
            <a:pPr algn="l">
              <a:lnSpc>
                <a:spcPct val="115000"/>
              </a:lnSpc>
              <a:spcAft>
                <a:spcPts val="400"/>
              </a:spcAft>
            </a:pPr>
            <a:r>
              <a:rPr sz="950" b="1" i="0">
                <a:solidFill>
                  <a:srgbClr val="1C1D1F"/>
                </a:solidFill>
                <a:latin typeface="Arial"/>
              </a:rPr>
              <a:t>Web app  </a:t>
            </a:r>
            <a:r>
              <a:rPr sz="950" b="0" i="0">
                <a:solidFill>
                  <a:srgbClr val="3D3F43"/>
                </a:solidFill>
                <a:latin typeface="Arial"/>
              </a:rPr>
              <a:t>Product page and adjuster UI</a:t>
            </a:r>
          </a:p>
        </p:txBody>
      </p:sp>
      <p:sp>
        <p:nvSpPr>
          <p:cNvPr id="123" name="Rounded Rectangle 122"/>
          <p:cNvSpPr/>
          <p:nvPr/>
        </p:nvSpPr>
        <p:spPr>
          <a:xfrm>
            <a:off x="2606040" y="3008376"/>
            <a:ext cx="2971800" cy="521207"/>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Box 123"/>
          <p:cNvSpPr txBox="1"/>
          <p:nvPr/>
        </p:nvSpPr>
        <p:spPr>
          <a:xfrm>
            <a:off x="2697480" y="3099816"/>
            <a:ext cx="2788920" cy="338327"/>
          </a:xfrm>
          <a:prstGeom prst="rect">
            <a:avLst/>
          </a:prstGeom>
          <a:noFill/>
        </p:spPr>
        <p:txBody>
          <a:bodyPr wrap="square" lIns="0" tIns="0" rIns="0" bIns="0" anchor="ctr">
            <a:spAutoFit/>
          </a:bodyPr>
          <a:lstStyle/>
          <a:p>
            <a:pPr algn="l">
              <a:lnSpc>
                <a:spcPct val="115000"/>
              </a:lnSpc>
              <a:spcAft>
                <a:spcPts val="400"/>
              </a:spcAft>
            </a:pPr>
            <a:r>
              <a:rPr sz="950" b="1" i="0">
                <a:solidFill>
                  <a:srgbClr val="1C1D1F"/>
                </a:solidFill>
                <a:latin typeface="Arial"/>
              </a:rPr>
              <a:t>Integration API  </a:t>
            </a:r>
            <a:r>
              <a:rPr sz="950" b="0" i="0">
                <a:solidFill>
                  <a:srgbClr val="3D3F43"/>
                </a:solidFill>
                <a:latin typeface="Arial"/>
              </a:rPr>
              <a:t>/v1, API keys, OpenAPI docs</a:t>
            </a:r>
          </a:p>
        </p:txBody>
      </p:sp>
      <p:sp>
        <p:nvSpPr>
          <p:cNvPr id="125" name="Rounded Rectangle 124"/>
          <p:cNvSpPr/>
          <p:nvPr/>
        </p:nvSpPr>
        <p:spPr>
          <a:xfrm>
            <a:off x="2606040" y="3621024"/>
            <a:ext cx="2971800" cy="521207"/>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Box 125"/>
          <p:cNvSpPr txBox="1"/>
          <p:nvPr/>
        </p:nvSpPr>
        <p:spPr>
          <a:xfrm>
            <a:off x="2697480" y="3712463"/>
            <a:ext cx="2788920" cy="338327"/>
          </a:xfrm>
          <a:prstGeom prst="rect">
            <a:avLst/>
          </a:prstGeom>
          <a:noFill/>
        </p:spPr>
        <p:txBody>
          <a:bodyPr wrap="square" lIns="0" tIns="0" rIns="0" bIns="0" anchor="ctr">
            <a:spAutoFit/>
          </a:bodyPr>
          <a:lstStyle/>
          <a:p>
            <a:pPr algn="l">
              <a:lnSpc>
                <a:spcPct val="115000"/>
              </a:lnSpc>
              <a:spcAft>
                <a:spcPts val="400"/>
              </a:spcAft>
            </a:pPr>
            <a:r>
              <a:rPr sz="950" b="1" i="0">
                <a:solidFill>
                  <a:srgbClr val="1C1D1F"/>
                </a:solidFill>
                <a:latin typeface="Arial"/>
              </a:rPr>
              <a:t>Rule engine  </a:t>
            </a:r>
            <a:r>
              <a:rPr sz="950" b="0" i="0">
                <a:solidFill>
                  <a:srgbClr val="3D3F43"/>
                </a:solidFill>
                <a:latin typeface="Arial"/>
              </a:rPr>
              <a:t>Thresholds set per deployment</a:t>
            </a:r>
          </a:p>
        </p:txBody>
      </p:sp>
      <p:sp>
        <p:nvSpPr>
          <p:cNvPr id="127" name="Rounded Rectangle 126"/>
          <p:cNvSpPr/>
          <p:nvPr/>
        </p:nvSpPr>
        <p:spPr>
          <a:xfrm>
            <a:off x="6172200" y="1965960"/>
            <a:ext cx="2468880" cy="1143000"/>
          </a:xfrm>
          <a:prstGeom prst="roundRect">
            <a:avLst>
              <a:gd name="adj" fmla="val 6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TextBox 127"/>
          <p:cNvSpPr txBox="1"/>
          <p:nvPr/>
        </p:nvSpPr>
        <p:spPr>
          <a:xfrm>
            <a:off x="6300216" y="2093976"/>
            <a:ext cx="2212848" cy="886968"/>
          </a:xfrm>
          <a:prstGeom prst="rect">
            <a:avLst/>
          </a:prstGeom>
          <a:noFill/>
        </p:spPr>
        <p:txBody>
          <a:bodyPr wrap="square" lIns="0" tIns="0" rIns="0" bIns="0" anchor="t">
            <a:spAutoFit/>
          </a:bodyPr>
          <a:lstStyle/>
          <a:p>
            <a:pPr algn="l">
              <a:lnSpc>
                <a:spcPct val="115000"/>
              </a:lnSpc>
              <a:spcAft>
                <a:spcPts val="400"/>
              </a:spcAft>
            </a:pPr>
            <a:r>
              <a:rPr sz="1150" b="1" i="0">
                <a:solidFill>
                  <a:srgbClr val="1C1D1F"/>
                </a:solidFill>
                <a:latin typeface="Arial"/>
              </a:rPr>
              <a:t>Vertex AI</a:t>
            </a:r>
          </a:p>
          <a:p>
            <a:pPr algn="l">
              <a:lnSpc>
                <a:spcPct val="115000"/>
              </a:lnSpc>
              <a:spcAft>
                <a:spcPts val="400"/>
              </a:spcAft>
            </a:pPr>
            <a:r>
              <a:rPr sz="950" b="0" i="0">
                <a:solidFill>
                  <a:srgbClr val="3D3F43"/>
                </a:solidFill>
                <a:latin typeface="Arial"/>
              </a:rPr>
              <a:t>Gemini 2.5 Flash. Multimodal input, JSON schema output, called through the service account</a:t>
            </a:r>
          </a:p>
        </p:txBody>
      </p:sp>
      <p:sp>
        <p:nvSpPr>
          <p:cNvPr id="129" name="Rounded Rectangle 128"/>
          <p:cNvSpPr/>
          <p:nvPr/>
        </p:nvSpPr>
        <p:spPr>
          <a:xfrm>
            <a:off x="6172200" y="3291840"/>
            <a:ext cx="2468880" cy="100584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Box 129"/>
          <p:cNvSpPr txBox="1"/>
          <p:nvPr/>
        </p:nvSpPr>
        <p:spPr>
          <a:xfrm>
            <a:off x="6300216" y="3419856"/>
            <a:ext cx="2212848" cy="749808"/>
          </a:xfrm>
          <a:prstGeom prst="rect">
            <a:avLst/>
          </a:prstGeom>
          <a:noFill/>
        </p:spPr>
        <p:txBody>
          <a:bodyPr wrap="square" lIns="0" tIns="0" rIns="0" bIns="0" anchor="t">
            <a:spAutoFit/>
          </a:bodyPr>
          <a:lstStyle/>
          <a:p>
            <a:pPr algn="l">
              <a:lnSpc>
                <a:spcPct val="115000"/>
              </a:lnSpc>
              <a:spcAft>
                <a:spcPts val="400"/>
              </a:spcAft>
            </a:pPr>
            <a:r>
              <a:rPr sz="1050" b="1" i="0">
                <a:solidFill>
                  <a:srgbClr val="1C1D1F"/>
                </a:solidFill>
                <a:latin typeface="Arial"/>
              </a:rPr>
              <a:t>Cloud Build + Artifact Registry</a:t>
            </a:r>
          </a:p>
          <a:p>
            <a:pPr algn="l">
              <a:lnSpc>
                <a:spcPct val="115000"/>
              </a:lnSpc>
              <a:spcAft>
                <a:spcPts val="400"/>
              </a:spcAft>
            </a:pPr>
            <a:r>
              <a:rPr sz="950" b="0" i="0">
                <a:solidFill>
                  <a:srgbClr val="3D3F43"/>
                </a:solidFill>
                <a:latin typeface="Arial"/>
              </a:rPr>
              <a:t>deploy.sh builds from source and rolls out a new revision</a:t>
            </a:r>
          </a:p>
        </p:txBody>
      </p:sp>
      <p:cxnSp>
        <p:nvCxnSpPr>
          <p:cNvPr id="131" name="Connector 130"/>
          <p:cNvCxnSpPr/>
          <p:nvPr/>
        </p:nvCxnSpPr>
        <p:spPr>
          <a:xfrm>
            <a:off x="1965960" y="2286000"/>
            <a:ext cx="502920" cy="36576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965960" y="3246120"/>
            <a:ext cx="502920" cy="22860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5715000" y="2542032"/>
            <a:ext cx="457200" cy="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a:off x="5715000" y="3794760"/>
            <a:ext cx="457200" cy="0"/>
          </a:xfrm>
          <a:prstGeom prst="line">
            <a:avLst/>
          </a:prstGeom>
          <a:ln w="15875">
            <a:solidFill>
              <a:srgbClr val="6E70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320040" y="4572000"/>
            <a:ext cx="8503920" cy="27432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No model keys in code: Cloud Run's service account holds roles/aiplatform.user. Claim files are processed in memory and never leave the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1"/>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Built on Google Cloud, with as few moving parts as possible</a:t>
            </a:r>
          </a:p>
        </p:txBody>
      </p:sp>
      <p:graphicFrame>
        <p:nvGraphicFramePr>
          <p:cNvPr id="121" name="Table 120"/>
          <p:cNvGraphicFramePr>
            <a:graphicFrameLocks noGrp="1"/>
          </p:cNvGraphicFramePr>
          <p:nvPr/>
        </p:nvGraphicFramePr>
        <p:xfrm>
          <a:off x="320040" y="1645920"/>
          <a:ext cx="8503920" cy="3116580"/>
        </p:xfrm>
        <a:graphic>
          <a:graphicData uri="http://schemas.openxmlformats.org/drawingml/2006/table">
            <a:tbl>
              <a:tblPr firstRow="1">
                <a:tableStyleId>{5C22544A-7EE6-4342-B048-85BDC9FD1C3A}</a:tableStyleId>
              </a:tblPr>
              <a:tblGrid>
                <a:gridCol w="12801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88620">
                <a:tc>
                  <a:txBody>
                    <a:bodyPr/>
                    <a:lstStyle/>
                    <a:p>
                      <a:r>
                        <a:rPr sz="1000" b="1">
                          <a:solidFill>
                            <a:srgbClr val="FFFFFF"/>
                          </a:solidFill>
                          <a:latin typeface="Arial"/>
                        </a:rPr>
                        <a:t>Layer</a:t>
                      </a:r>
                    </a:p>
                  </a:txBody>
                  <a:tcPr>
                    <a:solidFill>
                      <a:srgbClr val="1C1D1F"/>
                    </a:solidFill>
                  </a:tcPr>
                </a:tc>
                <a:tc>
                  <a:txBody>
                    <a:bodyPr/>
                    <a:lstStyle/>
                    <a:p>
                      <a:r>
                        <a:rPr sz="1000" b="1">
                          <a:solidFill>
                            <a:srgbClr val="FFFFFF"/>
                          </a:solidFill>
                          <a:latin typeface="Arial"/>
                        </a:rPr>
                        <a:t>Technology</a:t>
                      </a:r>
                    </a:p>
                  </a:txBody>
                  <a:tcPr>
                    <a:solidFill>
                      <a:srgbClr val="1C1D1F"/>
                    </a:solidFill>
                  </a:tcPr>
                </a:tc>
                <a:tc>
                  <a:txBody>
                    <a:bodyPr/>
                    <a:lstStyle/>
                    <a:p>
                      <a:r>
                        <a:rPr sz="1000" b="1">
                          <a:solidFill>
                            <a:srgbClr val="FFFFFF"/>
                          </a:solidFill>
                          <a:latin typeface="Arial"/>
                        </a:rPr>
                        <a:t>Why we chose it</a:t>
                      </a:r>
                    </a:p>
                  </a:txBody>
                  <a:tcPr>
                    <a:solidFill>
                      <a:srgbClr val="1C1D1F"/>
                    </a:solidFill>
                  </a:tcPr>
                </a:tc>
                <a:extLst>
                  <a:ext uri="{0D108BD9-81ED-4DB2-BD59-A6C34878D82A}">
                    <a16:rowId xmlns:a16="http://schemas.microsoft.com/office/drawing/2014/main" val="10000"/>
                  </a:ext>
                </a:extLst>
              </a:tr>
              <a:tr h="388620">
                <a:tc>
                  <a:txBody>
                    <a:bodyPr/>
                    <a:lstStyle/>
                    <a:p>
                      <a:r>
                        <a:rPr sz="1000" b="0">
                          <a:solidFill>
                            <a:srgbClr val="1C1D1F"/>
                          </a:solidFill>
                          <a:latin typeface="Arial"/>
                        </a:rPr>
                        <a:t>AI reasoning</a:t>
                      </a:r>
                    </a:p>
                  </a:txBody>
                  <a:tcPr>
                    <a:solidFill>
                      <a:srgbClr val="F4F5F7"/>
                    </a:solidFill>
                  </a:tcPr>
                </a:tc>
                <a:tc>
                  <a:txBody>
                    <a:bodyPr/>
                    <a:lstStyle/>
                    <a:p>
                      <a:r>
                        <a:rPr sz="1000" b="1">
                          <a:solidFill>
                            <a:srgbClr val="1C1D1F"/>
                          </a:solidFill>
                          <a:latin typeface="Arial"/>
                        </a:rPr>
                        <a:t>Gemini 2.5 Flash on Vertex AI</a:t>
                      </a:r>
                    </a:p>
                  </a:txBody>
                  <a:tcPr>
                    <a:solidFill>
                      <a:srgbClr val="F4F5F7"/>
                    </a:solidFill>
                  </a:tcPr>
                </a:tc>
                <a:tc>
                  <a:txBody>
                    <a:bodyPr/>
                    <a:lstStyle/>
                    <a:p>
                      <a:r>
                        <a:rPr sz="1000" b="0">
                          <a:solidFill>
                            <a:srgbClr val="3D3F43"/>
                          </a:solidFill>
                          <a:latin typeface="Arial"/>
                        </a:rPr>
                        <a:t>Reads images and PDFs natively, follows a strict JSON schema, fast and cheap per claim</a:t>
                      </a:r>
                    </a:p>
                  </a:txBody>
                  <a:tcPr>
                    <a:solidFill>
                      <a:srgbClr val="F4F5F7"/>
                    </a:solidFill>
                  </a:tcPr>
                </a:tc>
                <a:extLst>
                  <a:ext uri="{0D108BD9-81ED-4DB2-BD59-A6C34878D82A}">
                    <a16:rowId xmlns:a16="http://schemas.microsoft.com/office/drawing/2014/main" val="10001"/>
                  </a:ext>
                </a:extLst>
              </a:tr>
              <a:tr h="388620">
                <a:tc>
                  <a:txBody>
                    <a:bodyPr/>
                    <a:lstStyle/>
                    <a:p>
                      <a:r>
                        <a:rPr sz="1000" b="0">
                          <a:solidFill>
                            <a:srgbClr val="1C1D1F"/>
                          </a:solidFill>
                          <a:latin typeface="Arial"/>
                        </a:rPr>
                        <a:t>Test data</a:t>
                      </a:r>
                    </a:p>
                  </a:txBody>
                  <a:tcPr>
                    <a:solidFill>
                      <a:srgbClr val="FFFFFF"/>
                    </a:solidFill>
                  </a:tcPr>
                </a:tc>
                <a:tc>
                  <a:txBody>
                    <a:bodyPr/>
                    <a:lstStyle/>
                    <a:p>
                      <a:r>
                        <a:rPr sz="1000" b="1">
                          <a:solidFill>
                            <a:srgbClr val="1C1D1F"/>
                          </a:solidFill>
                          <a:latin typeface="Arial"/>
                        </a:rPr>
                        <a:t>Gemini 2.5 Flash Image</a:t>
                      </a:r>
                    </a:p>
                  </a:txBody>
                  <a:tcPr>
                    <a:solidFill>
                      <a:srgbClr val="FFFFFF"/>
                    </a:solidFill>
                  </a:tcPr>
                </a:tc>
                <a:tc>
                  <a:txBody>
                    <a:bodyPr/>
                    <a:lstStyle/>
                    <a:p>
                      <a:r>
                        <a:rPr sz="1000" b="0">
                          <a:solidFill>
                            <a:srgbClr val="3D3F43"/>
                          </a:solidFill>
                          <a:latin typeface="Arial"/>
                        </a:rPr>
                        <a:t>Realistic synthetic damage photos, so no real customer data is ever used</a:t>
                      </a:r>
                    </a:p>
                  </a:txBody>
                  <a:tcPr>
                    <a:solidFill>
                      <a:srgbClr val="FFFFFF"/>
                    </a:solidFill>
                  </a:tcPr>
                </a:tc>
                <a:extLst>
                  <a:ext uri="{0D108BD9-81ED-4DB2-BD59-A6C34878D82A}">
                    <a16:rowId xmlns:a16="http://schemas.microsoft.com/office/drawing/2014/main" val="10002"/>
                  </a:ext>
                </a:extLst>
              </a:tr>
              <a:tr h="388620">
                <a:tc>
                  <a:txBody>
                    <a:bodyPr/>
                    <a:lstStyle/>
                    <a:p>
                      <a:r>
                        <a:rPr sz="1000" b="0">
                          <a:solidFill>
                            <a:srgbClr val="1C1D1F"/>
                          </a:solidFill>
                          <a:latin typeface="Arial"/>
                        </a:rPr>
                        <a:t>Hosting</a:t>
                      </a:r>
                    </a:p>
                  </a:txBody>
                  <a:tcPr>
                    <a:solidFill>
                      <a:srgbClr val="F4F5F7"/>
                    </a:solidFill>
                  </a:tcPr>
                </a:tc>
                <a:tc>
                  <a:txBody>
                    <a:bodyPr/>
                    <a:lstStyle/>
                    <a:p>
                      <a:r>
                        <a:rPr sz="1000" b="1">
                          <a:solidFill>
                            <a:srgbClr val="1C1D1F"/>
                          </a:solidFill>
                          <a:latin typeface="Arial"/>
                        </a:rPr>
                        <a:t>Cloud Run</a:t>
                      </a:r>
                    </a:p>
                  </a:txBody>
                  <a:tcPr>
                    <a:solidFill>
                      <a:srgbClr val="F4F5F7"/>
                    </a:solidFill>
                  </a:tcPr>
                </a:tc>
                <a:tc>
                  <a:txBody>
                    <a:bodyPr/>
                    <a:lstStyle/>
                    <a:p>
                      <a:r>
                        <a:rPr sz="1000" b="0">
                          <a:solidFill>
                            <a:srgbClr val="3D3F43"/>
                          </a:solidFill>
                          <a:latin typeface="Arial"/>
                        </a:rPr>
                        <a:t>Serverless, scales with claim volume, installs into any Google Cloud project</a:t>
                      </a:r>
                    </a:p>
                  </a:txBody>
                  <a:tcPr>
                    <a:solidFill>
                      <a:srgbClr val="F4F5F7"/>
                    </a:solidFill>
                  </a:tcPr>
                </a:tc>
                <a:extLst>
                  <a:ext uri="{0D108BD9-81ED-4DB2-BD59-A6C34878D82A}">
                    <a16:rowId xmlns:a16="http://schemas.microsoft.com/office/drawing/2014/main" val="10003"/>
                  </a:ext>
                </a:extLst>
              </a:tr>
              <a:tr h="388620">
                <a:tc>
                  <a:txBody>
                    <a:bodyPr/>
                    <a:lstStyle/>
                    <a:p>
                      <a:r>
                        <a:rPr sz="1000" b="0">
                          <a:solidFill>
                            <a:srgbClr val="1C1D1F"/>
                          </a:solidFill>
                          <a:latin typeface="Arial"/>
                        </a:rPr>
                        <a:t>Build</a:t>
                      </a:r>
                    </a:p>
                  </a:txBody>
                  <a:tcPr>
                    <a:solidFill>
                      <a:srgbClr val="FFFFFF"/>
                    </a:solidFill>
                  </a:tcPr>
                </a:tc>
                <a:tc>
                  <a:txBody>
                    <a:bodyPr/>
                    <a:lstStyle/>
                    <a:p>
                      <a:r>
                        <a:rPr sz="1000" b="1">
                          <a:solidFill>
                            <a:srgbClr val="1C1D1F"/>
                          </a:solidFill>
                          <a:latin typeface="Arial"/>
                        </a:rPr>
                        <a:t>Cloud Build, Artifact Registry</a:t>
                      </a:r>
                    </a:p>
                  </a:txBody>
                  <a:tcPr>
                    <a:solidFill>
                      <a:srgbClr val="FFFFFF"/>
                    </a:solidFill>
                  </a:tcPr>
                </a:tc>
                <a:tc>
                  <a:txBody>
                    <a:bodyPr/>
                    <a:lstStyle/>
                    <a:p>
                      <a:r>
                        <a:rPr sz="1000" b="0">
                          <a:solidFill>
                            <a:srgbClr val="3D3F43"/>
                          </a:solidFill>
                          <a:latin typeface="Arial"/>
                        </a:rPr>
                        <a:t>Source to running container with one command, no local Docker</a:t>
                      </a:r>
                    </a:p>
                  </a:txBody>
                  <a:tcPr>
                    <a:solidFill>
                      <a:srgbClr val="FFFFFF"/>
                    </a:solidFill>
                  </a:tcPr>
                </a:tc>
                <a:extLst>
                  <a:ext uri="{0D108BD9-81ED-4DB2-BD59-A6C34878D82A}">
                    <a16:rowId xmlns:a16="http://schemas.microsoft.com/office/drawing/2014/main" val="10004"/>
                  </a:ext>
                </a:extLst>
              </a:tr>
              <a:tr h="388620">
                <a:tc>
                  <a:txBody>
                    <a:bodyPr/>
                    <a:lstStyle/>
                    <a:p>
                      <a:r>
                        <a:rPr sz="1000" b="0">
                          <a:solidFill>
                            <a:srgbClr val="1C1D1F"/>
                          </a:solidFill>
                          <a:latin typeface="Arial"/>
                        </a:rPr>
                        <a:t>Backend</a:t>
                      </a:r>
                    </a:p>
                  </a:txBody>
                  <a:tcPr>
                    <a:solidFill>
                      <a:srgbClr val="F4F5F7"/>
                    </a:solidFill>
                  </a:tcPr>
                </a:tc>
                <a:tc>
                  <a:txBody>
                    <a:bodyPr/>
                    <a:lstStyle/>
                    <a:p>
                      <a:r>
                        <a:rPr sz="1000" b="1">
                          <a:solidFill>
                            <a:srgbClr val="1C1D1F"/>
                          </a:solidFill>
                          <a:latin typeface="Arial"/>
                        </a:rPr>
                        <a:t>Python, FastAPI, google-genai SDK</a:t>
                      </a:r>
                    </a:p>
                  </a:txBody>
                  <a:tcPr>
                    <a:solidFill>
                      <a:srgbClr val="F4F5F7"/>
                    </a:solidFill>
                  </a:tcPr>
                </a:tc>
                <a:tc>
                  <a:txBody>
                    <a:bodyPr/>
                    <a:lstStyle/>
                    <a:p>
                      <a:r>
                        <a:rPr sz="1000" b="0">
                          <a:solidFill>
                            <a:srgbClr val="3D3F43"/>
                          </a:solidFill>
                          <a:latin typeface="Arial"/>
                        </a:rPr>
                        <a:t>Typed endpoints with OpenAPI docs generated automatically</a:t>
                      </a:r>
                    </a:p>
                  </a:txBody>
                  <a:tcPr>
                    <a:solidFill>
                      <a:srgbClr val="F4F5F7"/>
                    </a:solidFill>
                  </a:tcPr>
                </a:tc>
                <a:extLst>
                  <a:ext uri="{0D108BD9-81ED-4DB2-BD59-A6C34878D82A}">
                    <a16:rowId xmlns:a16="http://schemas.microsoft.com/office/drawing/2014/main" val="10005"/>
                  </a:ext>
                </a:extLst>
              </a:tr>
              <a:tr h="388620">
                <a:tc>
                  <a:txBody>
                    <a:bodyPr/>
                    <a:lstStyle/>
                    <a:p>
                      <a:r>
                        <a:rPr sz="1000" b="0">
                          <a:solidFill>
                            <a:srgbClr val="1C1D1F"/>
                          </a:solidFill>
                          <a:latin typeface="Arial"/>
                        </a:rPr>
                        <a:t>Frontend</a:t>
                      </a:r>
                    </a:p>
                  </a:txBody>
                  <a:tcPr>
                    <a:solidFill>
                      <a:srgbClr val="FFFFFF"/>
                    </a:solidFill>
                  </a:tcPr>
                </a:tc>
                <a:tc>
                  <a:txBody>
                    <a:bodyPr/>
                    <a:lstStyle/>
                    <a:p>
                      <a:r>
                        <a:rPr sz="1000" b="1">
                          <a:solidFill>
                            <a:srgbClr val="1C1D1F"/>
                          </a:solidFill>
                          <a:latin typeface="Arial"/>
                        </a:rPr>
                        <a:t>HTML, CSS, plain JavaScript</a:t>
                      </a:r>
                    </a:p>
                  </a:txBody>
                  <a:tcPr>
                    <a:solidFill>
                      <a:srgbClr val="FFFFFF"/>
                    </a:solidFill>
                  </a:tcPr>
                </a:tc>
                <a:tc>
                  <a:txBody>
                    <a:bodyPr/>
                    <a:lstStyle/>
                    <a:p>
                      <a:r>
                        <a:rPr sz="1000" b="0">
                          <a:solidFill>
                            <a:srgbClr val="3D3F43"/>
                          </a:solidFill>
                          <a:latin typeface="Arial"/>
                        </a:rPr>
                        <a:t>No build step, loads instantly, easy for an insurer's team to restyle</a:t>
                      </a:r>
                    </a:p>
                  </a:txBody>
                  <a:tcPr>
                    <a:solidFill>
                      <a:srgbClr val="FFFFFF"/>
                    </a:solidFill>
                  </a:tcPr>
                </a:tc>
                <a:extLst>
                  <a:ext uri="{0D108BD9-81ED-4DB2-BD59-A6C34878D82A}">
                    <a16:rowId xmlns:a16="http://schemas.microsoft.com/office/drawing/2014/main" val="10006"/>
                  </a:ext>
                </a:extLst>
              </a:tr>
              <a:tr h="388620">
                <a:tc>
                  <a:txBody>
                    <a:bodyPr/>
                    <a:lstStyle/>
                    <a:p>
                      <a:r>
                        <a:rPr sz="1000" b="0">
                          <a:solidFill>
                            <a:srgbClr val="1C1D1F"/>
                          </a:solidFill>
                          <a:latin typeface="Arial"/>
                        </a:rPr>
                        <a:t>Security</a:t>
                      </a:r>
                    </a:p>
                  </a:txBody>
                  <a:tcPr>
                    <a:solidFill>
                      <a:srgbClr val="F4F5F7"/>
                    </a:solidFill>
                  </a:tcPr>
                </a:tc>
                <a:tc>
                  <a:txBody>
                    <a:bodyPr/>
                    <a:lstStyle/>
                    <a:p>
                      <a:r>
                        <a:rPr sz="1000" b="1">
                          <a:solidFill>
                            <a:srgbClr val="1C1D1F"/>
                          </a:solidFill>
                          <a:latin typeface="Arial"/>
                        </a:rPr>
                        <a:t>IAM service account, API keys on /v1</a:t>
                      </a:r>
                    </a:p>
                  </a:txBody>
                  <a:tcPr>
                    <a:solidFill>
                      <a:srgbClr val="F4F5F7"/>
                    </a:solidFill>
                  </a:tcPr>
                </a:tc>
                <a:tc>
                  <a:txBody>
                    <a:bodyPr/>
                    <a:lstStyle/>
                    <a:p>
                      <a:r>
                        <a:rPr sz="1000" b="0">
                          <a:solidFill>
                            <a:srgbClr val="3D3F43"/>
                          </a:solidFill>
                          <a:latin typeface="Arial"/>
                        </a:rPr>
                        <a:t>Model access through IAM, integrations through rotating keys</a:t>
                      </a:r>
                    </a:p>
                  </a:txBody>
                  <a:tcPr>
                    <a:solidFill>
                      <a:srgbClr val="F4F5F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2"/>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About 1.3 cents of model cost per claim reviewed</a:t>
            </a:r>
          </a:p>
        </p:txBody>
      </p:sp>
      <p:sp>
        <p:nvSpPr>
          <p:cNvPr id="129" name="TextBox 128"/>
          <p:cNvSpPr txBox="1"/>
          <p:nvPr/>
        </p:nvSpPr>
        <p:spPr>
          <a:xfrm>
            <a:off x="320040" y="1691640"/>
            <a:ext cx="2743200" cy="640080"/>
          </a:xfrm>
          <a:prstGeom prst="rect">
            <a:avLst/>
          </a:prstGeom>
          <a:noFill/>
        </p:spPr>
        <p:txBody>
          <a:bodyPr wrap="square" lIns="0" tIns="0" rIns="0" bIns="0" anchor="t">
            <a:spAutoFit/>
          </a:bodyPr>
          <a:lstStyle/>
          <a:p>
            <a:pPr algn="l">
              <a:lnSpc>
                <a:spcPct val="115000"/>
              </a:lnSpc>
              <a:spcAft>
                <a:spcPts val="400"/>
              </a:spcAft>
            </a:pPr>
            <a:r>
              <a:rPr sz="3400" b="1" i="0">
                <a:solidFill>
                  <a:srgbClr val="1C1D1F"/>
                </a:solidFill>
                <a:latin typeface="Arial"/>
              </a:rPr>
              <a:t>$0.0128</a:t>
            </a:r>
          </a:p>
        </p:txBody>
      </p:sp>
      <p:sp>
        <p:nvSpPr>
          <p:cNvPr id="130" name="TextBox 129"/>
          <p:cNvSpPr txBox="1"/>
          <p:nvPr/>
        </p:nvSpPr>
        <p:spPr>
          <a:xfrm>
            <a:off x="320040" y="2331720"/>
            <a:ext cx="2743200" cy="82296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Gemini 2.5 Flash cost per claim, measured over 15 benchmark runs (average 1,575 input and 4,942 output tokens)</a:t>
            </a:r>
          </a:p>
        </p:txBody>
      </p:sp>
      <p:sp>
        <p:nvSpPr>
          <p:cNvPr id="131" name="TextBox 130"/>
          <p:cNvSpPr txBox="1"/>
          <p:nvPr/>
        </p:nvSpPr>
        <p:spPr>
          <a:xfrm>
            <a:off x="320040" y="3154680"/>
            <a:ext cx="2743200" cy="640080"/>
          </a:xfrm>
          <a:prstGeom prst="rect">
            <a:avLst/>
          </a:prstGeom>
          <a:noFill/>
        </p:spPr>
        <p:txBody>
          <a:bodyPr wrap="square" lIns="0" tIns="0" rIns="0" bIns="0" anchor="t">
            <a:spAutoFit/>
          </a:bodyPr>
          <a:lstStyle/>
          <a:p>
            <a:pPr algn="l">
              <a:lnSpc>
                <a:spcPct val="115000"/>
              </a:lnSpc>
              <a:spcAft>
                <a:spcPts val="400"/>
              </a:spcAft>
            </a:pPr>
            <a:r>
              <a:rPr sz="3400" b="1" i="0">
                <a:solidFill>
                  <a:srgbClr val="1C1D1F"/>
                </a:solidFill>
                <a:latin typeface="Arial"/>
              </a:rPr>
              <a:t>$128</a:t>
            </a:r>
          </a:p>
        </p:txBody>
      </p:sp>
      <p:sp>
        <p:nvSpPr>
          <p:cNvPr id="132" name="TextBox 131"/>
          <p:cNvSpPr txBox="1"/>
          <p:nvPr/>
        </p:nvSpPr>
        <p:spPr>
          <a:xfrm>
            <a:off x="320040" y="3794760"/>
            <a:ext cx="2743200" cy="822960"/>
          </a:xfrm>
          <a:prstGeom prst="rect">
            <a:avLst/>
          </a:prstGeom>
          <a:noFill/>
        </p:spPr>
        <p:txBody>
          <a:bodyPr wrap="square" lIns="0" tIns="0" rIns="0" bIns="0" anchor="t">
            <a:spAutoFit/>
          </a:bodyPr>
          <a:lstStyle/>
          <a:p>
            <a:pPr algn="l">
              <a:lnSpc>
                <a:spcPct val="115000"/>
              </a:lnSpc>
              <a:spcAft>
                <a:spcPts val="400"/>
              </a:spcAft>
            </a:pPr>
            <a:r>
              <a:rPr sz="1000" b="0" i="0">
                <a:solidFill>
                  <a:srgbClr val="6E7076"/>
                </a:solidFill>
                <a:latin typeface="Arial"/>
              </a:rPr>
              <a:t>model cost for 10,000 claims a month, with no volume discounts</a:t>
            </a:r>
          </a:p>
        </p:txBody>
      </p:sp>
      <p:graphicFrame>
        <p:nvGraphicFramePr>
          <p:cNvPr id="133" name="Table 132"/>
          <p:cNvGraphicFramePr>
            <a:graphicFrameLocks noGrp="1"/>
          </p:cNvGraphicFramePr>
          <p:nvPr/>
        </p:nvGraphicFramePr>
        <p:xfrm>
          <a:off x="3337560" y="1737360"/>
          <a:ext cx="5486400" cy="2011680"/>
        </p:xfrm>
        <a:graphic>
          <a:graphicData uri="http://schemas.openxmlformats.org/drawingml/2006/table">
            <a:tbl>
              <a:tblPr firstRow="1">
                <a:tableStyleId>{5C22544A-7EE6-4342-B048-85BDC9FD1C3A}</a:tableStyleId>
              </a:tblPr>
              <a:tblGrid>
                <a:gridCol w="18288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02336">
                <a:tc>
                  <a:txBody>
                    <a:bodyPr/>
                    <a:lstStyle/>
                    <a:p>
                      <a:r>
                        <a:rPr sz="950" b="1">
                          <a:solidFill>
                            <a:srgbClr val="FFFFFF"/>
                          </a:solidFill>
                          <a:latin typeface="Arial"/>
                        </a:rPr>
                        <a:t>Item</a:t>
                      </a:r>
                    </a:p>
                  </a:txBody>
                  <a:tcPr marL="73152" marR="73152">
                    <a:solidFill>
                      <a:srgbClr val="1C1D1F"/>
                    </a:solidFill>
                  </a:tcPr>
                </a:tc>
                <a:tc>
                  <a:txBody>
                    <a:bodyPr/>
                    <a:lstStyle/>
                    <a:p>
                      <a:r>
                        <a:rPr sz="950" b="1">
                          <a:solidFill>
                            <a:srgbClr val="FFFFFF"/>
                          </a:solidFill>
                          <a:latin typeface="Arial"/>
                        </a:rPr>
                        <a:t>Basis</a:t>
                      </a:r>
                    </a:p>
                  </a:txBody>
                  <a:tcPr marL="73152" marR="73152">
                    <a:solidFill>
                      <a:srgbClr val="1C1D1F"/>
                    </a:solidFill>
                  </a:tcPr>
                </a:tc>
                <a:tc>
                  <a:txBody>
                    <a:bodyPr/>
                    <a:lstStyle/>
                    <a:p>
                      <a:pPr algn="r"/>
                      <a:r>
                        <a:rPr sz="950" b="1">
                          <a:solidFill>
                            <a:srgbClr val="FFFFFF"/>
                          </a:solidFill>
                          <a:latin typeface="Arial"/>
                        </a:rPr>
                        <a:t>Monthly estimate</a:t>
                      </a:r>
                    </a:p>
                  </a:txBody>
                  <a:tcPr marL="73152" marR="73152">
                    <a:solidFill>
                      <a:srgbClr val="1C1D1F"/>
                    </a:solidFill>
                  </a:tcPr>
                </a:tc>
                <a:extLst>
                  <a:ext uri="{0D108BD9-81ED-4DB2-BD59-A6C34878D82A}">
                    <a16:rowId xmlns:a16="http://schemas.microsoft.com/office/drawing/2014/main" val="10000"/>
                  </a:ext>
                </a:extLst>
              </a:tr>
              <a:tr h="402336">
                <a:tc>
                  <a:txBody>
                    <a:bodyPr/>
                    <a:lstStyle/>
                    <a:p>
                      <a:r>
                        <a:rPr sz="950" b="1">
                          <a:solidFill>
                            <a:srgbClr val="1C1D1F"/>
                          </a:solidFill>
                          <a:latin typeface="Arial"/>
                        </a:rPr>
                        <a:t>Gemini 2.5 Flash on Vertex AI</a:t>
                      </a:r>
                    </a:p>
                  </a:txBody>
                  <a:tcPr marL="73152" marR="73152">
                    <a:solidFill>
                      <a:srgbClr val="F4F5F7"/>
                    </a:solidFill>
                  </a:tcPr>
                </a:tc>
                <a:tc>
                  <a:txBody>
                    <a:bodyPr/>
                    <a:lstStyle/>
                    <a:p>
                      <a:r>
                        <a:rPr sz="950" b="0">
                          <a:solidFill>
                            <a:srgbClr val="1C1D1F"/>
                          </a:solidFill>
                          <a:latin typeface="Arial"/>
                        </a:rPr>
                        <a:t>$0.30 per 1M input, $2.50 per 1M output tokens; 10,000 claims</a:t>
                      </a:r>
                    </a:p>
                  </a:txBody>
                  <a:tcPr marL="73152" marR="73152">
                    <a:solidFill>
                      <a:srgbClr val="F4F5F7"/>
                    </a:solidFill>
                  </a:tcPr>
                </a:tc>
                <a:tc>
                  <a:txBody>
                    <a:bodyPr/>
                    <a:lstStyle/>
                    <a:p>
                      <a:pPr algn="r"/>
                      <a:r>
                        <a:rPr sz="950" b="0">
                          <a:solidFill>
                            <a:srgbClr val="1C1D1F"/>
                          </a:solidFill>
                          <a:latin typeface="Arial"/>
                        </a:rPr>
                        <a:t>$128</a:t>
                      </a:r>
                    </a:p>
                  </a:txBody>
                  <a:tcPr marL="73152" marR="73152">
                    <a:solidFill>
                      <a:srgbClr val="F4F5F7"/>
                    </a:solidFill>
                  </a:tcPr>
                </a:tc>
                <a:extLst>
                  <a:ext uri="{0D108BD9-81ED-4DB2-BD59-A6C34878D82A}">
                    <a16:rowId xmlns:a16="http://schemas.microsoft.com/office/drawing/2014/main" val="10001"/>
                  </a:ext>
                </a:extLst>
              </a:tr>
              <a:tr h="402336">
                <a:tc>
                  <a:txBody>
                    <a:bodyPr/>
                    <a:lstStyle/>
                    <a:p>
                      <a:r>
                        <a:rPr sz="950" b="1">
                          <a:solidFill>
                            <a:srgbClr val="1C1D1F"/>
                          </a:solidFill>
                          <a:latin typeface="Arial"/>
                        </a:rPr>
                        <a:t>Cloud Run</a:t>
                      </a:r>
                    </a:p>
                  </a:txBody>
                  <a:tcPr marL="73152" marR="73152">
                    <a:solidFill>
                      <a:srgbClr val="FFFFFF"/>
                    </a:solidFill>
                  </a:tcPr>
                </a:tc>
                <a:tc>
                  <a:txBody>
                    <a:bodyPr/>
                    <a:lstStyle/>
                    <a:p>
                      <a:r>
                        <a:rPr sz="950" b="0">
                          <a:solidFill>
                            <a:srgbClr val="1C1D1F"/>
                          </a:solidFill>
                          <a:latin typeface="Arial"/>
                        </a:rPr>
                        <a:t>1 vCPU, 1 GiB, one warm instance, autoscaling to 3</a:t>
                      </a:r>
                    </a:p>
                  </a:txBody>
                  <a:tcPr marL="73152" marR="73152">
                    <a:solidFill>
                      <a:srgbClr val="FFFFFF"/>
                    </a:solidFill>
                  </a:tcPr>
                </a:tc>
                <a:tc>
                  <a:txBody>
                    <a:bodyPr/>
                    <a:lstStyle/>
                    <a:p>
                      <a:pPr algn="r"/>
                      <a:r>
                        <a:rPr sz="950" b="0">
                          <a:solidFill>
                            <a:srgbClr val="1C1D1F"/>
                          </a:solidFill>
                          <a:latin typeface="Arial"/>
                        </a:rPr>
                        <a:t>$15 to $50</a:t>
                      </a:r>
                    </a:p>
                  </a:txBody>
                  <a:tcPr marL="73152" marR="73152">
                    <a:solidFill>
                      <a:srgbClr val="FFFFFF"/>
                    </a:solidFill>
                  </a:tcPr>
                </a:tc>
                <a:extLst>
                  <a:ext uri="{0D108BD9-81ED-4DB2-BD59-A6C34878D82A}">
                    <a16:rowId xmlns:a16="http://schemas.microsoft.com/office/drawing/2014/main" val="10002"/>
                  </a:ext>
                </a:extLst>
              </a:tr>
              <a:tr h="402336">
                <a:tc>
                  <a:txBody>
                    <a:bodyPr/>
                    <a:lstStyle/>
                    <a:p>
                      <a:r>
                        <a:rPr sz="950" b="1">
                          <a:solidFill>
                            <a:srgbClr val="1C1D1F"/>
                          </a:solidFill>
                          <a:latin typeface="Arial"/>
                        </a:rPr>
                        <a:t>Cloud Build, Artifact Registry</a:t>
                      </a:r>
                    </a:p>
                  </a:txBody>
                  <a:tcPr marL="73152" marR="73152">
                    <a:solidFill>
                      <a:srgbClr val="F4F5F7"/>
                    </a:solidFill>
                  </a:tcPr>
                </a:tc>
                <a:tc>
                  <a:txBody>
                    <a:bodyPr/>
                    <a:lstStyle/>
                    <a:p>
                      <a:r>
                        <a:rPr sz="950" b="0">
                          <a:solidFill>
                            <a:srgbClr val="1C1D1F"/>
                          </a:solidFill>
                          <a:latin typeface="Arial"/>
                        </a:rPr>
                        <a:t>A few deploys a month, one image</a:t>
                      </a:r>
                    </a:p>
                  </a:txBody>
                  <a:tcPr marL="73152" marR="73152">
                    <a:solidFill>
                      <a:srgbClr val="F4F5F7"/>
                    </a:solidFill>
                  </a:tcPr>
                </a:tc>
                <a:tc>
                  <a:txBody>
                    <a:bodyPr/>
                    <a:lstStyle/>
                    <a:p>
                      <a:pPr algn="r"/>
                      <a:r>
                        <a:rPr sz="950" b="0">
                          <a:solidFill>
                            <a:srgbClr val="1C1D1F"/>
                          </a:solidFill>
                          <a:latin typeface="Arial"/>
                        </a:rPr>
                        <a:t>Under $5</a:t>
                      </a:r>
                    </a:p>
                  </a:txBody>
                  <a:tcPr marL="73152" marR="73152">
                    <a:solidFill>
                      <a:srgbClr val="F4F5F7"/>
                    </a:solidFill>
                  </a:tcPr>
                </a:tc>
                <a:extLst>
                  <a:ext uri="{0D108BD9-81ED-4DB2-BD59-A6C34878D82A}">
                    <a16:rowId xmlns:a16="http://schemas.microsoft.com/office/drawing/2014/main" val="10003"/>
                  </a:ext>
                </a:extLst>
              </a:tr>
              <a:tr h="402336">
                <a:tc>
                  <a:txBody>
                    <a:bodyPr/>
                    <a:lstStyle/>
                    <a:p>
                      <a:r>
                        <a:rPr sz="950" b="1">
                          <a:solidFill>
                            <a:srgbClr val="1C1D1F"/>
                          </a:solidFill>
                          <a:latin typeface="Arial"/>
                        </a:rPr>
                        <a:t>Pilot total</a:t>
                      </a:r>
                    </a:p>
                  </a:txBody>
                  <a:tcPr marL="73152" marR="73152">
                    <a:solidFill>
                      <a:srgbClr val="E8EEF5"/>
                    </a:solidFill>
                  </a:tcPr>
                </a:tc>
                <a:tc>
                  <a:txBody>
                    <a:bodyPr/>
                    <a:lstStyle/>
                    <a:p>
                      <a:r>
                        <a:rPr sz="950" b="1">
                          <a:solidFill>
                            <a:srgbClr val="1C1D1F"/>
                          </a:solidFill>
                          <a:latin typeface="Arial"/>
                        </a:rPr>
                        <a:t>Shadow mode on a live claim feed</a:t>
                      </a:r>
                    </a:p>
                  </a:txBody>
                  <a:tcPr marL="73152" marR="73152">
                    <a:solidFill>
                      <a:srgbClr val="E8EEF5"/>
                    </a:solidFill>
                  </a:tcPr>
                </a:tc>
                <a:tc>
                  <a:txBody>
                    <a:bodyPr/>
                    <a:lstStyle/>
                    <a:p>
                      <a:pPr algn="r"/>
                      <a:r>
                        <a:rPr sz="950" b="1">
                          <a:solidFill>
                            <a:srgbClr val="1C1D1F"/>
                          </a:solidFill>
                          <a:latin typeface="Arial"/>
                        </a:rPr>
                        <a:t>About $183</a:t>
                      </a:r>
                    </a:p>
                  </a:txBody>
                  <a:tcPr marL="73152" marR="73152">
                    <a:solidFill>
                      <a:srgbClr val="E8EEF5"/>
                    </a:solidFill>
                  </a:tcPr>
                </a:tc>
                <a:extLst>
                  <a:ext uri="{0D108BD9-81ED-4DB2-BD59-A6C34878D82A}">
                    <a16:rowId xmlns:a16="http://schemas.microsoft.com/office/drawing/2014/main" val="10004"/>
                  </a:ext>
                </a:extLst>
              </a:tr>
            </a:tbl>
          </a:graphicData>
        </a:graphic>
      </p:graphicFrame>
      <p:sp>
        <p:nvSpPr>
          <p:cNvPr id="134" name="TextBox 133"/>
          <p:cNvSpPr txBox="1"/>
          <p:nvPr/>
        </p:nvSpPr>
        <p:spPr>
          <a:xfrm>
            <a:off x="3337560" y="3977639"/>
            <a:ext cx="5486400" cy="822960"/>
          </a:xfrm>
          <a:prstGeom prst="rect">
            <a:avLst/>
          </a:prstGeom>
          <a:noFill/>
        </p:spPr>
        <p:txBody>
          <a:bodyPr wrap="square" lIns="0" tIns="0" rIns="0" bIns="0" anchor="t">
            <a:spAutoFit/>
          </a:bodyPr>
          <a:lstStyle/>
          <a:p>
            <a:pPr algn="l">
              <a:lnSpc>
                <a:spcPct val="115000"/>
              </a:lnSpc>
              <a:spcAft>
                <a:spcPts val="600"/>
              </a:spcAft>
            </a:pPr>
            <a:r>
              <a:rPr sz="1050" b="0" i="0">
                <a:solidFill>
                  <a:srgbClr val="3D3F43"/>
                </a:solidFill>
                <a:latin typeface="Arial"/>
              </a:rPr>
              <a:t>Compare that with the cost of one missed fraudulent claim, often thousands of dollars. Catching a single padded repair bill like our $9,000 test case pays for months of running ClaimGuard.</a:t>
            </a:r>
          </a:p>
          <a:p>
            <a:pPr algn="l">
              <a:lnSpc>
                <a:spcPct val="115000"/>
              </a:lnSpc>
              <a:spcAft>
                <a:spcPts val="600"/>
              </a:spcAft>
            </a:pPr>
            <a:r>
              <a:rPr sz="850" b="0" i="0">
                <a:solidFill>
                  <a:srgbClr val="6E7076"/>
                </a:solidFill>
                <a:latin typeface="Arial"/>
              </a:rPr>
              <a:t>Estimates use Google Cloud list prices at the time of writing and exclude taxes and committed-use discounts.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3"/>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A $9,000 claim flagged in 30 seconds, with the evidence laid out</a:t>
            </a:r>
          </a:p>
        </p:txBody>
      </p:sp>
      <p:pic>
        <p:nvPicPr>
          <p:cNvPr id="137" name="Picture 136" descr="verdict2.png"/>
          <p:cNvPicPr>
            <a:picLocks noChangeAspect="1"/>
          </p:cNvPicPr>
          <p:nvPr/>
        </p:nvPicPr>
        <p:blipFill>
          <a:blip r:embed="rId5"/>
          <a:stretch>
            <a:fillRect/>
          </a:stretch>
        </p:blipFill>
        <p:spPr>
          <a:xfrm>
            <a:off x="320040" y="1691640"/>
            <a:ext cx="4160520" cy="1255721"/>
          </a:xfrm>
          <a:prstGeom prst="rect">
            <a:avLst/>
          </a:prstGeom>
          <a:ln w="9525">
            <a:solidFill>
              <a:srgbClr val="DDDFE3"/>
            </a:solidFill>
          </a:ln>
        </p:spPr>
      </p:pic>
      <p:pic>
        <p:nvPicPr>
          <p:cNvPr id="138" name="Picture 137" descr="findings2.png"/>
          <p:cNvPicPr>
            <a:picLocks noChangeAspect="1"/>
          </p:cNvPicPr>
          <p:nvPr/>
        </p:nvPicPr>
        <p:blipFill>
          <a:blip r:embed="rId6"/>
          <a:stretch>
            <a:fillRect/>
          </a:stretch>
        </p:blipFill>
        <p:spPr>
          <a:xfrm>
            <a:off x="4663440" y="1691640"/>
            <a:ext cx="4160520" cy="2798895"/>
          </a:xfrm>
          <a:prstGeom prst="rect">
            <a:avLst/>
          </a:prstGeom>
          <a:ln w="9525">
            <a:solidFill>
              <a:srgbClr val="DDDFE3"/>
            </a:solidFill>
          </a:ln>
        </p:spPr>
      </p:pic>
      <p:sp>
        <p:nvSpPr>
          <p:cNvPr id="139" name="TextBox 138"/>
          <p:cNvSpPr txBox="1"/>
          <p:nvPr/>
        </p:nvSpPr>
        <p:spPr>
          <a:xfrm>
            <a:off x="320040" y="3063240"/>
            <a:ext cx="4160520" cy="1737360"/>
          </a:xfrm>
          <a:prstGeom prst="rect">
            <a:avLst/>
          </a:prstGeom>
          <a:noFill/>
        </p:spPr>
        <p:txBody>
          <a:bodyPr wrap="square" lIns="0" tIns="0" rIns="0" bIns="0" anchor="t">
            <a:spAutoFit/>
          </a:bodyPr>
          <a:lstStyle/>
          <a:p>
            <a:pPr algn="l">
              <a:lnSpc>
                <a:spcPct val="115000"/>
              </a:lnSpc>
              <a:spcAft>
                <a:spcPts val="500"/>
              </a:spcAft>
            </a:pPr>
            <a:r>
              <a:rPr sz="1000" b="1" i="0">
                <a:solidFill>
                  <a:srgbClr val="1C1D1F"/>
                </a:solidFill>
                <a:latin typeface="Arial"/>
              </a:rPr>
              <a:t>What it caught on this claim</a:t>
            </a:r>
          </a:p>
          <a:p>
            <a:pPr algn="l">
              <a:lnSpc>
                <a:spcPct val="115000"/>
              </a:lnSpc>
              <a:spcAft>
                <a:spcPts val="500"/>
              </a:spcAft>
            </a:pPr>
            <a:r>
              <a:rPr sz="1000" b="0" i="0">
                <a:solidFill>
                  <a:srgbClr val="3D3F43"/>
                </a:solidFill>
                <a:latin typeface="Arial"/>
              </a:rPr>
              <a:t>The photo shows front-end damage, but the claimant describes a hit to the back of the car.</a:t>
            </a:r>
          </a:p>
          <a:p>
            <a:pPr algn="l">
              <a:lnSpc>
                <a:spcPct val="115000"/>
              </a:lnSpc>
              <a:spcAft>
                <a:spcPts val="500"/>
              </a:spcAft>
            </a:pPr>
            <a:r>
              <a:rPr sz="1000" b="0" i="0">
                <a:solidFill>
                  <a:srgbClr val="3D3F43"/>
                </a:solidFill>
                <a:latin typeface="Arial"/>
              </a:rPr>
              <a:t>The invoice lists a hood, radiator and headlamps, and is dated three days before the incident.</a:t>
            </a:r>
          </a:p>
          <a:p>
            <a:pPr algn="l">
              <a:lnSpc>
                <a:spcPct val="115000"/>
              </a:lnSpc>
              <a:spcAft>
                <a:spcPts val="500"/>
              </a:spcAft>
            </a:pPr>
            <a:r>
              <a:rPr sz="1000" b="0" i="0">
                <a:solidFill>
                  <a:srgbClr val="3D3F43"/>
                </a:solidFill>
                <a:latin typeface="Arial"/>
              </a:rPr>
              <a:t>Its line items add up to $4,750, yet the total says $9,000.</a:t>
            </a:r>
          </a:p>
          <a:p>
            <a:pPr algn="l">
              <a:lnSpc>
                <a:spcPct val="115000"/>
              </a:lnSpc>
              <a:spcAft>
                <a:spcPts val="500"/>
              </a:spcAft>
            </a:pPr>
            <a:r>
              <a:rPr sz="1000" b="0" i="0">
                <a:solidFill>
                  <a:srgbClr val="3D3F43"/>
                </a:solidFill>
                <a:latin typeface="Arial"/>
              </a:rPr>
              <a:t>The same shop's own estimate for rear damage was $1,550.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4"/>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Prototype performance report and 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15 of 15 runs reached the expected decision</a:t>
            </a:r>
          </a:p>
        </p:txBody>
      </p:sp>
      <p:sp>
        <p:nvSpPr>
          <p:cNvPr id="145" name="TextBox 144"/>
          <p:cNvSpPr txBox="1"/>
          <p:nvPr/>
        </p:nvSpPr>
        <p:spPr>
          <a:xfrm>
            <a:off x="320040" y="1645920"/>
            <a:ext cx="1463040" cy="502920"/>
          </a:xfrm>
          <a:prstGeom prst="rect">
            <a:avLst/>
          </a:prstGeom>
          <a:noFill/>
        </p:spPr>
        <p:txBody>
          <a:bodyPr wrap="square" lIns="0" tIns="0" rIns="0" bIns="0" anchor="t">
            <a:spAutoFit/>
          </a:bodyPr>
          <a:lstStyle/>
          <a:p>
            <a:pPr algn="l">
              <a:lnSpc>
                <a:spcPct val="115000"/>
              </a:lnSpc>
              <a:spcAft>
                <a:spcPts val="400"/>
              </a:spcAft>
            </a:pPr>
            <a:r>
              <a:rPr sz="2400" b="1" i="0">
                <a:solidFill>
                  <a:srgbClr val="1C1D1F"/>
                </a:solidFill>
                <a:latin typeface="Arial"/>
              </a:rPr>
              <a:t>15/15</a:t>
            </a:r>
          </a:p>
        </p:txBody>
      </p:sp>
      <p:sp>
        <p:nvSpPr>
          <p:cNvPr id="146" name="TextBox 145"/>
          <p:cNvSpPr txBox="1"/>
          <p:nvPr/>
        </p:nvSpPr>
        <p:spPr>
          <a:xfrm>
            <a:off x="320040" y="2148840"/>
            <a:ext cx="1371600" cy="548640"/>
          </a:xfrm>
          <a:prstGeom prst="rect">
            <a:avLst/>
          </a:prstGeom>
          <a:noFill/>
        </p:spPr>
        <p:txBody>
          <a:bodyPr wrap="square" lIns="0" tIns="0" rIns="0" bIns="0" anchor="t">
            <a:spAutoFit/>
          </a:bodyPr>
          <a:lstStyle/>
          <a:p>
            <a:pPr algn="l">
              <a:lnSpc>
                <a:spcPct val="115000"/>
              </a:lnSpc>
              <a:spcAft>
                <a:spcPts val="400"/>
              </a:spcAft>
            </a:pPr>
            <a:r>
              <a:rPr sz="950" b="0" i="0">
                <a:solidFill>
                  <a:srgbClr val="6E7076"/>
                </a:solidFill>
                <a:latin typeface="Arial"/>
              </a:rPr>
              <a:t>runs with the expected recommendation</a:t>
            </a:r>
          </a:p>
        </p:txBody>
      </p:sp>
      <p:sp>
        <p:nvSpPr>
          <p:cNvPr id="147" name="TextBox 146"/>
          <p:cNvSpPr txBox="1"/>
          <p:nvPr/>
        </p:nvSpPr>
        <p:spPr>
          <a:xfrm>
            <a:off x="1828800" y="1645920"/>
            <a:ext cx="1463040" cy="502920"/>
          </a:xfrm>
          <a:prstGeom prst="rect">
            <a:avLst/>
          </a:prstGeom>
          <a:noFill/>
        </p:spPr>
        <p:txBody>
          <a:bodyPr wrap="square" lIns="0" tIns="0" rIns="0" bIns="0" anchor="t">
            <a:spAutoFit/>
          </a:bodyPr>
          <a:lstStyle/>
          <a:p>
            <a:pPr algn="l">
              <a:lnSpc>
                <a:spcPct val="115000"/>
              </a:lnSpc>
              <a:spcAft>
                <a:spcPts val="400"/>
              </a:spcAft>
            </a:pPr>
            <a:r>
              <a:rPr sz="2400" b="1" i="0">
                <a:solidFill>
                  <a:srgbClr val="1C1D1F"/>
                </a:solidFill>
                <a:latin typeface="Arial"/>
              </a:rPr>
              <a:t>25 s</a:t>
            </a:r>
          </a:p>
        </p:txBody>
      </p:sp>
      <p:sp>
        <p:nvSpPr>
          <p:cNvPr id="148" name="TextBox 147"/>
          <p:cNvSpPr txBox="1"/>
          <p:nvPr/>
        </p:nvSpPr>
        <p:spPr>
          <a:xfrm>
            <a:off x="1828800" y="2148840"/>
            <a:ext cx="1371600" cy="548640"/>
          </a:xfrm>
          <a:prstGeom prst="rect">
            <a:avLst/>
          </a:prstGeom>
          <a:noFill/>
        </p:spPr>
        <p:txBody>
          <a:bodyPr wrap="square" lIns="0" tIns="0" rIns="0" bIns="0" anchor="t">
            <a:spAutoFit/>
          </a:bodyPr>
          <a:lstStyle/>
          <a:p>
            <a:pPr algn="l">
              <a:lnSpc>
                <a:spcPct val="115000"/>
              </a:lnSpc>
              <a:spcAft>
                <a:spcPts val="400"/>
              </a:spcAft>
            </a:pPr>
            <a:r>
              <a:rPr sz="950" b="0" i="0">
                <a:solidFill>
                  <a:srgbClr val="6E7076"/>
                </a:solidFill>
                <a:latin typeface="Arial"/>
              </a:rPr>
              <a:t>average review time, 2 to 3 files per claim</a:t>
            </a:r>
          </a:p>
        </p:txBody>
      </p:sp>
      <p:sp>
        <p:nvSpPr>
          <p:cNvPr id="149" name="TextBox 148"/>
          <p:cNvSpPr txBox="1"/>
          <p:nvPr/>
        </p:nvSpPr>
        <p:spPr>
          <a:xfrm>
            <a:off x="3337560" y="1645920"/>
            <a:ext cx="1463040" cy="502920"/>
          </a:xfrm>
          <a:prstGeom prst="rect">
            <a:avLst/>
          </a:prstGeom>
          <a:noFill/>
        </p:spPr>
        <p:txBody>
          <a:bodyPr wrap="square" lIns="0" tIns="0" rIns="0" bIns="0" anchor="t">
            <a:spAutoFit/>
          </a:bodyPr>
          <a:lstStyle/>
          <a:p>
            <a:pPr algn="l">
              <a:lnSpc>
                <a:spcPct val="115000"/>
              </a:lnSpc>
              <a:spcAft>
                <a:spcPts val="400"/>
              </a:spcAft>
            </a:pPr>
            <a:r>
              <a:rPr sz="2400" b="1" i="0">
                <a:solidFill>
                  <a:srgbClr val="1C1D1F"/>
                </a:solidFill>
                <a:latin typeface="Arial"/>
              </a:rPr>
              <a:t>20 pts</a:t>
            </a:r>
          </a:p>
        </p:txBody>
      </p:sp>
      <p:sp>
        <p:nvSpPr>
          <p:cNvPr id="150" name="TextBox 149"/>
          <p:cNvSpPr txBox="1"/>
          <p:nvPr/>
        </p:nvSpPr>
        <p:spPr>
          <a:xfrm>
            <a:off x="3337560" y="2148840"/>
            <a:ext cx="1371600" cy="548640"/>
          </a:xfrm>
          <a:prstGeom prst="rect">
            <a:avLst/>
          </a:prstGeom>
          <a:noFill/>
        </p:spPr>
        <p:txBody>
          <a:bodyPr wrap="square" lIns="0" tIns="0" rIns="0" bIns="0" anchor="t">
            <a:spAutoFit/>
          </a:bodyPr>
          <a:lstStyle/>
          <a:p>
            <a:pPr algn="l">
              <a:lnSpc>
                <a:spcPct val="115000"/>
              </a:lnSpc>
              <a:spcAft>
                <a:spcPts val="400"/>
              </a:spcAft>
            </a:pPr>
            <a:r>
              <a:rPr sz="950" b="0" i="0">
                <a:solidFill>
                  <a:srgbClr val="6E7076"/>
                </a:solidFill>
                <a:latin typeface="Arial"/>
              </a:rPr>
              <a:t>largest score spread across repeat runs</a:t>
            </a:r>
          </a:p>
        </p:txBody>
      </p:sp>
      <p:graphicFrame>
        <p:nvGraphicFramePr>
          <p:cNvPr id="151" name="Table 150"/>
          <p:cNvGraphicFramePr>
            <a:graphicFrameLocks noGrp="1"/>
          </p:cNvGraphicFramePr>
          <p:nvPr/>
        </p:nvGraphicFramePr>
        <p:xfrm>
          <a:off x="320040" y="2697480"/>
          <a:ext cx="8503920" cy="1691640"/>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281940">
                <a:tc>
                  <a:txBody>
                    <a:bodyPr/>
                    <a:lstStyle/>
                    <a:p>
                      <a:r>
                        <a:rPr sz="1000" b="1">
                          <a:solidFill>
                            <a:srgbClr val="FFFFFF"/>
                          </a:solidFill>
                          <a:latin typeface="Arial"/>
                        </a:rPr>
                        <a:t>Test claim</a:t>
                      </a:r>
                    </a:p>
                  </a:txBody>
                  <a:tcPr marL="73152" marR="73152">
                    <a:solidFill>
                      <a:srgbClr val="1C1D1F"/>
                    </a:solidFill>
                  </a:tcPr>
                </a:tc>
                <a:tc>
                  <a:txBody>
                    <a:bodyPr/>
                    <a:lstStyle/>
                    <a:p>
                      <a:r>
                        <a:rPr sz="1000" b="1">
                          <a:solidFill>
                            <a:srgbClr val="FFFFFF"/>
                          </a:solidFill>
                          <a:latin typeface="Arial"/>
                        </a:rPr>
                        <a:t>Files</a:t>
                      </a:r>
                    </a:p>
                  </a:txBody>
                  <a:tcPr marL="73152" marR="73152">
                    <a:solidFill>
                      <a:srgbClr val="1C1D1F"/>
                    </a:solidFill>
                  </a:tcPr>
                </a:tc>
                <a:tc>
                  <a:txBody>
                    <a:bodyPr/>
                    <a:lstStyle/>
                    <a:p>
                      <a:r>
                        <a:rPr sz="1000" b="1">
                          <a:solidFill>
                            <a:srgbClr val="FFFFFF"/>
                          </a:solidFill>
                          <a:latin typeface="Arial"/>
                        </a:rPr>
                        <a:t>Expected</a:t>
                      </a:r>
                    </a:p>
                  </a:txBody>
                  <a:tcPr marL="73152" marR="73152">
                    <a:solidFill>
                      <a:srgbClr val="1C1D1F"/>
                    </a:solidFill>
                  </a:tcPr>
                </a:tc>
                <a:tc>
                  <a:txBody>
                    <a:bodyPr/>
                    <a:lstStyle/>
                    <a:p>
                      <a:r>
                        <a:rPr sz="1000" b="1">
                          <a:solidFill>
                            <a:srgbClr val="FFFFFF"/>
                          </a:solidFill>
                          <a:latin typeface="Arial"/>
                        </a:rPr>
                        <a:t>Correct</a:t>
                      </a:r>
                    </a:p>
                  </a:txBody>
                  <a:tcPr marL="73152" marR="73152">
                    <a:solidFill>
                      <a:srgbClr val="1C1D1F"/>
                    </a:solidFill>
                  </a:tcPr>
                </a:tc>
                <a:tc>
                  <a:txBody>
                    <a:bodyPr/>
                    <a:lstStyle/>
                    <a:p>
                      <a:r>
                        <a:rPr sz="1000" b="1">
                          <a:solidFill>
                            <a:srgbClr val="FFFFFF"/>
                          </a:solidFill>
                          <a:latin typeface="Arial"/>
                        </a:rPr>
                        <a:t>Score range</a:t>
                      </a:r>
                    </a:p>
                  </a:txBody>
                  <a:tcPr marL="73152" marR="73152">
                    <a:solidFill>
                      <a:srgbClr val="1C1D1F"/>
                    </a:solidFill>
                  </a:tcPr>
                </a:tc>
                <a:tc>
                  <a:txBody>
                    <a:bodyPr/>
                    <a:lstStyle/>
                    <a:p>
                      <a:r>
                        <a:rPr sz="1000" b="1">
                          <a:solidFill>
                            <a:srgbClr val="FFFFFF"/>
                          </a:solidFill>
                          <a:latin typeface="Arial"/>
                        </a:rPr>
                        <a:t>Avg time</a:t>
                      </a:r>
                    </a:p>
                  </a:txBody>
                  <a:tcPr marL="73152" marR="73152">
                    <a:solidFill>
                      <a:srgbClr val="1C1D1F"/>
                    </a:solidFill>
                  </a:tcPr>
                </a:tc>
                <a:extLst>
                  <a:ext uri="{0D108BD9-81ED-4DB2-BD59-A6C34878D82A}">
                    <a16:rowId xmlns:a16="http://schemas.microsoft.com/office/drawing/2014/main" val="10000"/>
                  </a:ext>
                </a:extLst>
              </a:tr>
              <a:tr h="281940">
                <a:tc>
                  <a:txBody>
                    <a:bodyPr/>
                    <a:lstStyle/>
                    <a:p>
                      <a:r>
                        <a:rPr sz="1000" b="1">
                          <a:solidFill>
                            <a:srgbClr val="1C1D1F"/>
                          </a:solidFill>
                          <a:latin typeface="Arial"/>
                        </a:rPr>
                        <a:t>Consistent rear-end collision</a:t>
                      </a:r>
                    </a:p>
                  </a:txBody>
                  <a:tcPr marL="73152" marR="73152">
                    <a:solidFill>
                      <a:srgbClr val="F4F5F7"/>
                    </a:solidFill>
                  </a:tcPr>
                </a:tc>
                <a:tc>
                  <a:txBody>
                    <a:bodyPr/>
                    <a:lstStyle/>
                    <a:p>
                      <a:r>
                        <a:rPr sz="1000" b="0">
                          <a:solidFill>
                            <a:srgbClr val="1C1D1F"/>
                          </a:solidFill>
                          <a:latin typeface="Arial"/>
                        </a:rPr>
                        <a:t>3</a:t>
                      </a:r>
                    </a:p>
                  </a:txBody>
                  <a:tcPr marL="73152" marR="73152">
                    <a:solidFill>
                      <a:srgbClr val="F4F5F7"/>
                    </a:solidFill>
                  </a:tcPr>
                </a:tc>
                <a:tc>
                  <a:txBody>
                    <a:bodyPr/>
                    <a:lstStyle/>
                    <a:p>
                      <a:r>
                        <a:rPr sz="1000" b="0">
                          <a:solidFill>
                            <a:srgbClr val="1C1D1F"/>
                          </a:solidFill>
                          <a:latin typeface="Arial"/>
                        </a:rPr>
                        <a:t>Approve</a:t>
                      </a:r>
                    </a:p>
                  </a:txBody>
                  <a:tcPr marL="73152" marR="73152">
                    <a:solidFill>
                      <a:srgbClr val="F4F5F7"/>
                    </a:solidFill>
                  </a:tcPr>
                </a:tc>
                <a:tc>
                  <a:txBody>
                    <a:bodyPr/>
                    <a:lstStyle/>
                    <a:p>
                      <a:r>
                        <a:rPr sz="1000" b="0">
                          <a:solidFill>
                            <a:srgbClr val="1C1D1F"/>
                          </a:solidFill>
                          <a:latin typeface="Arial"/>
                        </a:rPr>
                        <a:t>3/3</a:t>
                      </a:r>
                    </a:p>
                  </a:txBody>
                  <a:tcPr marL="73152" marR="73152">
                    <a:solidFill>
                      <a:srgbClr val="F4F5F7"/>
                    </a:solidFill>
                  </a:tcPr>
                </a:tc>
                <a:tc>
                  <a:txBody>
                    <a:bodyPr/>
                    <a:lstStyle/>
                    <a:p>
                      <a:r>
                        <a:rPr sz="1000" b="0">
                          <a:solidFill>
                            <a:srgbClr val="1C1D1F"/>
                          </a:solidFill>
                          <a:latin typeface="Arial"/>
                        </a:rPr>
                        <a:t>5 to 10</a:t>
                      </a:r>
                    </a:p>
                  </a:txBody>
                  <a:tcPr marL="73152" marR="73152">
                    <a:solidFill>
                      <a:srgbClr val="F4F5F7"/>
                    </a:solidFill>
                  </a:tcPr>
                </a:tc>
                <a:tc>
                  <a:txBody>
                    <a:bodyPr/>
                    <a:lstStyle/>
                    <a:p>
                      <a:r>
                        <a:rPr sz="1000" b="0">
                          <a:solidFill>
                            <a:srgbClr val="1C1D1F"/>
                          </a:solidFill>
                          <a:latin typeface="Arial"/>
                        </a:rPr>
                        <a:t>24.7 s</a:t>
                      </a:r>
                    </a:p>
                  </a:txBody>
                  <a:tcPr marL="73152" marR="73152">
                    <a:solidFill>
                      <a:srgbClr val="F4F5F7"/>
                    </a:solidFill>
                  </a:tcPr>
                </a:tc>
                <a:extLst>
                  <a:ext uri="{0D108BD9-81ED-4DB2-BD59-A6C34878D82A}">
                    <a16:rowId xmlns:a16="http://schemas.microsoft.com/office/drawing/2014/main" val="10001"/>
                  </a:ext>
                </a:extLst>
              </a:tr>
              <a:tr h="281940">
                <a:tc>
                  <a:txBody>
                    <a:bodyPr/>
                    <a:lstStyle/>
                    <a:p>
                      <a:r>
                        <a:rPr sz="1000" b="1">
                          <a:solidFill>
                            <a:srgbClr val="1C1D1F"/>
                          </a:solidFill>
                          <a:latin typeface="Arial"/>
                        </a:rPr>
                        <a:t>Inflated repair invoice</a:t>
                      </a:r>
                    </a:p>
                  </a:txBody>
                  <a:tcPr marL="73152" marR="73152">
                    <a:solidFill>
                      <a:srgbClr val="FFFFFF"/>
                    </a:solidFill>
                  </a:tcPr>
                </a:tc>
                <a:tc>
                  <a:txBody>
                    <a:bodyPr/>
                    <a:lstStyle/>
                    <a:p>
                      <a:r>
                        <a:rPr sz="1000" b="0">
                          <a:solidFill>
                            <a:srgbClr val="1C1D1F"/>
                          </a:solidFill>
                          <a:latin typeface="Arial"/>
                        </a:rPr>
                        <a:t>3</a:t>
                      </a:r>
                    </a:p>
                  </a:txBody>
                  <a:tcPr marL="73152" marR="73152">
                    <a:solidFill>
                      <a:srgbClr val="FFFFFF"/>
                    </a:solidFill>
                  </a:tcPr>
                </a:tc>
                <a:tc>
                  <a:txBody>
                    <a:bodyPr/>
                    <a:lstStyle/>
                    <a:p>
                      <a:r>
                        <a:rPr sz="1000" b="0">
                          <a:solidFill>
                            <a:srgbClr val="1C1D1F"/>
                          </a:solidFill>
                          <a:latin typeface="Arial"/>
                        </a:rPr>
                        <a:t>Investigate</a:t>
                      </a:r>
                    </a:p>
                  </a:txBody>
                  <a:tcPr marL="73152" marR="73152">
                    <a:solidFill>
                      <a:srgbClr val="FFFFFF"/>
                    </a:solidFill>
                  </a:tcPr>
                </a:tc>
                <a:tc>
                  <a:txBody>
                    <a:bodyPr/>
                    <a:lstStyle/>
                    <a:p>
                      <a:r>
                        <a:rPr sz="1000" b="0">
                          <a:solidFill>
                            <a:srgbClr val="1C1D1F"/>
                          </a:solidFill>
                          <a:latin typeface="Arial"/>
                        </a:rPr>
                        <a:t>3/3</a:t>
                      </a:r>
                    </a:p>
                  </a:txBody>
                  <a:tcPr marL="73152" marR="73152">
                    <a:solidFill>
                      <a:srgbClr val="FFFFFF"/>
                    </a:solidFill>
                  </a:tcPr>
                </a:tc>
                <a:tc>
                  <a:txBody>
                    <a:bodyPr/>
                    <a:lstStyle/>
                    <a:p>
                      <a:r>
                        <a:rPr sz="1000" b="0">
                          <a:solidFill>
                            <a:srgbClr val="1C1D1F"/>
                          </a:solidFill>
                          <a:latin typeface="Arial"/>
                        </a:rPr>
                        <a:t>100 to 100</a:t>
                      </a:r>
                    </a:p>
                  </a:txBody>
                  <a:tcPr marL="73152" marR="73152">
                    <a:solidFill>
                      <a:srgbClr val="FFFFFF"/>
                    </a:solidFill>
                  </a:tcPr>
                </a:tc>
                <a:tc>
                  <a:txBody>
                    <a:bodyPr/>
                    <a:lstStyle/>
                    <a:p>
                      <a:r>
                        <a:rPr sz="1000" b="0">
                          <a:solidFill>
                            <a:srgbClr val="1C1D1F"/>
                          </a:solidFill>
                          <a:latin typeface="Arial"/>
                        </a:rPr>
                        <a:t>31.8 s</a:t>
                      </a:r>
                    </a:p>
                  </a:txBody>
                  <a:tcPr marL="73152" marR="73152">
                    <a:solidFill>
                      <a:srgbClr val="FFFFFF"/>
                    </a:solidFill>
                  </a:tcPr>
                </a:tc>
                <a:extLst>
                  <a:ext uri="{0D108BD9-81ED-4DB2-BD59-A6C34878D82A}">
                    <a16:rowId xmlns:a16="http://schemas.microsoft.com/office/drawing/2014/main" val="10002"/>
                  </a:ext>
                </a:extLst>
              </a:tr>
              <a:tr h="281940">
                <a:tc>
                  <a:txBody>
                    <a:bodyPr/>
                    <a:lstStyle/>
                    <a:p>
                      <a:r>
                        <a:rPr sz="1000" b="1">
                          <a:solidFill>
                            <a:srgbClr val="1C1D1F"/>
                          </a:solidFill>
                          <a:latin typeface="Arial"/>
                        </a:rPr>
                        <a:t>Phone lost before purchase</a:t>
                      </a:r>
                    </a:p>
                  </a:txBody>
                  <a:tcPr marL="73152" marR="73152">
                    <a:solidFill>
                      <a:srgbClr val="F4F5F7"/>
                    </a:solidFill>
                  </a:tcPr>
                </a:tc>
                <a:tc>
                  <a:txBody>
                    <a:bodyPr/>
                    <a:lstStyle/>
                    <a:p>
                      <a:r>
                        <a:rPr sz="1000" b="0">
                          <a:solidFill>
                            <a:srgbClr val="1C1D1F"/>
                          </a:solidFill>
                          <a:latin typeface="Arial"/>
                        </a:rPr>
                        <a:t>2</a:t>
                      </a:r>
                    </a:p>
                  </a:txBody>
                  <a:tcPr marL="73152" marR="73152">
                    <a:solidFill>
                      <a:srgbClr val="F4F5F7"/>
                    </a:solidFill>
                  </a:tcPr>
                </a:tc>
                <a:tc>
                  <a:txBody>
                    <a:bodyPr/>
                    <a:lstStyle/>
                    <a:p>
                      <a:r>
                        <a:rPr sz="1000" b="0">
                          <a:solidFill>
                            <a:srgbClr val="1C1D1F"/>
                          </a:solidFill>
                          <a:latin typeface="Arial"/>
                        </a:rPr>
                        <a:t>Investigate</a:t>
                      </a:r>
                    </a:p>
                  </a:txBody>
                  <a:tcPr marL="73152" marR="73152">
                    <a:solidFill>
                      <a:srgbClr val="F4F5F7"/>
                    </a:solidFill>
                  </a:tcPr>
                </a:tc>
                <a:tc>
                  <a:txBody>
                    <a:bodyPr/>
                    <a:lstStyle/>
                    <a:p>
                      <a:r>
                        <a:rPr sz="1000" b="0">
                          <a:solidFill>
                            <a:srgbClr val="1C1D1F"/>
                          </a:solidFill>
                          <a:latin typeface="Arial"/>
                        </a:rPr>
                        <a:t>3/3</a:t>
                      </a:r>
                    </a:p>
                  </a:txBody>
                  <a:tcPr marL="73152" marR="73152">
                    <a:solidFill>
                      <a:srgbClr val="F4F5F7"/>
                    </a:solidFill>
                  </a:tcPr>
                </a:tc>
                <a:tc>
                  <a:txBody>
                    <a:bodyPr/>
                    <a:lstStyle/>
                    <a:p>
                      <a:r>
                        <a:rPr sz="1000" b="0">
                          <a:solidFill>
                            <a:srgbClr val="1C1D1F"/>
                          </a:solidFill>
                          <a:latin typeface="Arial"/>
                        </a:rPr>
                        <a:t>85 to 100</a:t>
                      </a:r>
                    </a:p>
                  </a:txBody>
                  <a:tcPr marL="73152" marR="73152">
                    <a:solidFill>
                      <a:srgbClr val="F4F5F7"/>
                    </a:solidFill>
                  </a:tcPr>
                </a:tc>
                <a:tc>
                  <a:txBody>
                    <a:bodyPr/>
                    <a:lstStyle/>
                    <a:p>
                      <a:r>
                        <a:rPr sz="1000" b="0">
                          <a:solidFill>
                            <a:srgbClr val="1C1D1F"/>
                          </a:solidFill>
                          <a:latin typeface="Arial"/>
                        </a:rPr>
                        <a:t>21.2 s</a:t>
                      </a:r>
                    </a:p>
                  </a:txBody>
                  <a:tcPr marL="73152" marR="73152">
                    <a:solidFill>
                      <a:srgbClr val="F4F5F7"/>
                    </a:solidFill>
                  </a:tcPr>
                </a:tc>
                <a:extLst>
                  <a:ext uri="{0D108BD9-81ED-4DB2-BD59-A6C34878D82A}">
                    <a16:rowId xmlns:a16="http://schemas.microsoft.com/office/drawing/2014/main" val="10003"/>
                  </a:ext>
                </a:extLst>
              </a:tr>
              <a:tr h="281940">
                <a:tc>
                  <a:txBody>
                    <a:bodyPr/>
                    <a:lstStyle/>
                    <a:p>
                      <a:r>
                        <a:rPr sz="1000" b="1">
                          <a:solidFill>
                            <a:srgbClr val="1C1D1F"/>
                          </a:solidFill>
                          <a:latin typeface="Arial"/>
                        </a:rPr>
                        <a:t>Late water damage report</a:t>
                      </a:r>
                    </a:p>
                  </a:txBody>
                  <a:tcPr marL="73152" marR="73152">
                    <a:solidFill>
                      <a:srgbClr val="FFFFFF"/>
                    </a:solidFill>
                  </a:tcPr>
                </a:tc>
                <a:tc>
                  <a:txBody>
                    <a:bodyPr/>
                    <a:lstStyle/>
                    <a:p>
                      <a:r>
                        <a:rPr sz="1000" b="0">
                          <a:solidFill>
                            <a:srgbClr val="1C1D1F"/>
                          </a:solidFill>
                          <a:latin typeface="Arial"/>
                        </a:rPr>
                        <a:t>2</a:t>
                      </a:r>
                    </a:p>
                  </a:txBody>
                  <a:tcPr marL="73152" marR="73152">
                    <a:solidFill>
                      <a:srgbClr val="FFFFFF"/>
                    </a:solidFill>
                  </a:tcPr>
                </a:tc>
                <a:tc>
                  <a:txBody>
                    <a:bodyPr/>
                    <a:lstStyle/>
                    <a:p>
                      <a:r>
                        <a:rPr sz="1000" b="0">
                          <a:solidFill>
                            <a:srgbClr val="1C1D1F"/>
                          </a:solidFill>
                          <a:latin typeface="Arial"/>
                        </a:rPr>
                        <a:t>Manual Review</a:t>
                      </a:r>
                    </a:p>
                  </a:txBody>
                  <a:tcPr marL="73152" marR="73152">
                    <a:solidFill>
                      <a:srgbClr val="FFFFFF"/>
                    </a:solidFill>
                  </a:tcPr>
                </a:tc>
                <a:tc>
                  <a:txBody>
                    <a:bodyPr/>
                    <a:lstStyle/>
                    <a:p>
                      <a:r>
                        <a:rPr sz="1000" b="0">
                          <a:solidFill>
                            <a:srgbClr val="1C1D1F"/>
                          </a:solidFill>
                          <a:latin typeface="Arial"/>
                        </a:rPr>
                        <a:t>3/3</a:t>
                      </a:r>
                    </a:p>
                  </a:txBody>
                  <a:tcPr marL="73152" marR="73152">
                    <a:solidFill>
                      <a:srgbClr val="FFFFFF"/>
                    </a:solidFill>
                  </a:tcPr>
                </a:tc>
                <a:tc>
                  <a:txBody>
                    <a:bodyPr/>
                    <a:lstStyle/>
                    <a:p>
                      <a:r>
                        <a:rPr sz="1000" b="0">
                          <a:solidFill>
                            <a:srgbClr val="1C1D1F"/>
                          </a:solidFill>
                          <a:latin typeface="Arial"/>
                        </a:rPr>
                        <a:t>15 to 35</a:t>
                      </a:r>
                    </a:p>
                  </a:txBody>
                  <a:tcPr marL="73152" marR="73152">
                    <a:solidFill>
                      <a:srgbClr val="FFFFFF"/>
                    </a:solidFill>
                  </a:tcPr>
                </a:tc>
                <a:tc>
                  <a:txBody>
                    <a:bodyPr/>
                    <a:lstStyle/>
                    <a:p>
                      <a:r>
                        <a:rPr sz="1000" b="0">
                          <a:solidFill>
                            <a:srgbClr val="1C1D1F"/>
                          </a:solidFill>
                          <a:latin typeface="Arial"/>
                        </a:rPr>
                        <a:t>26.7 s</a:t>
                      </a:r>
                    </a:p>
                  </a:txBody>
                  <a:tcPr marL="73152" marR="73152">
                    <a:solidFill>
                      <a:srgbClr val="FFFFFF"/>
                    </a:solidFill>
                  </a:tcPr>
                </a:tc>
                <a:extLst>
                  <a:ext uri="{0D108BD9-81ED-4DB2-BD59-A6C34878D82A}">
                    <a16:rowId xmlns:a16="http://schemas.microsoft.com/office/drawing/2014/main" val="10004"/>
                  </a:ext>
                </a:extLst>
              </a:tr>
              <a:tr h="281940">
                <a:tc>
                  <a:txBody>
                    <a:bodyPr/>
                    <a:lstStyle/>
                    <a:p>
                      <a:r>
                        <a:rPr sz="1000" b="1">
                          <a:solidFill>
                            <a:srgbClr val="1C1D1F"/>
                          </a:solidFill>
                          <a:latin typeface="Arial"/>
                        </a:rPr>
                        <a:t>Photo of a different car</a:t>
                      </a:r>
                    </a:p>
                  </a:txBody>
                  <a:tcPr marL="73152" marR="73152">
                    <a:solidFill>
                      <a:srgbClr val="F4F5F7"/>
                    </a:solidFill>
                  </a:tcPr>
                </a:tc>
                <a:tc>
                  <a:txBody>
                    <a:bodyPr/>
                    <a:lstStyle/>
                    <a:p>
                      <a:r>
                        <a:rPr sz="1000" b="0">
                          <a:solidFill>
                            <a:srgbClr val="1C1D1F"/>
                          </a:solidFill>
                          <a:latin typeface="Arial"/>
                        </a:rPr>
                        <a:t>3</a:t>
                      </a:r>
                    </a:p>
                  </a:txBody>
                  <a:tcPr marL="73152" marR="73152">
                    <a:solidFill>
                      <a:srgbClr val="F4F5F7"/>
                    </a:solidFill>
                  </a:tcPr>
                </a:tc>
                <a:tc>
                  <a:txBody>
                    <a:bodyPr/>
                    <a:lstStyle/>
                    <a:p>
                      <a:r>
                        <a:rPr sz="1000" b="0">
                          <a:solidFill>
                            <a:srgbClr val="1C1D1F"/>
                          </a:solidFill>
                          <a:latin typeface="Arial"/>
                        </a:rPr>
                        <a:t>Investigate</a:t>
                      </a:r>
                    </a:p>
                  </a:txBody>
                  <a:tcPr marL="73152" marR="73152">
                    <a:solidFill>
                      <a:srgbClr val="F4F5F7"/>
                    </a:solidFill>
                  </a:tcPr>
                </a:tc>
                <a:tc>
                  <a:txBody>
                    <a:bodyPr/>
                    <a:lstStyle/>
                    <a:p>
                      <a:r>
                        <a:rPr sz="1000" b="0">
                          <a:solidFill>
                            <a:srgbClr val="1C1D1F"/>
                          </a:solidFill>
                          <a:latin typeface="Arial"/>
                        </a:rPr>
                        <a:t>3/3</a:t>
                      </a:r>
                    </a:p>
                  </a:txBody>
                  <a:tcPr marL="73152" marR="73152">
                    <a:solidFill>
                      <a:srgbClr val="F4F5F7"/>
                    </a:solidFill>
                  </a:tcPr>
                </a:tc>
                <a:tc>
                  <a:txBody>
                    <a:bodyPr/>
                    <a:lstStyle/>
                    <a:p>
                      <a:r>
                        <a:rPr sz="1000" b="0">
                          <a:solidFill>
                            <a:srgbClr val="1C1D1F"/>
                          </a:solidFill>
                          <a:latin typeface="Arial"/>
                        </a:rPr>
                        <a:t>65 to 85</a:t>
                      </a:r>
                    </a:p>
                  </a:txBody>
                  <a:tcPr marL="73152" marR="73152">
                    <a:solidFill>
                      <a:srgbClr val="F4F5F7"/>
                    </a:solidFill>
                  </a:tcPr>
                </a:tc>
                <a:tc>
                  <a:txBody>
                    <a:bodyPr/>
                    <a:lstStyle/>
                    <a:p>
                      <a:r>
                        <a:rPr sz="1000" b="0">
                          <a:solidFill>
                            <a:srgbClr val="1C1D1F"/>
                          </a:solidFill>
                          <a:latin typeface="Arial"/>
                        </a:rPr>
                        <a:t>21.7 s</a:t>
                      </a:r>
                    </a:p>
                  </a:txBody>
                  <a:tcPr marL="73152" marR="73152">
                    <a:solidFill>
                      <a:srgbClr val="F4F5F7"/>
                    </a:solidFill>
                  </a:tcPr>
                </a:tc>
                <a:extLst>
                  <a:ext uri="{0D108BD9-81ED-4DB2-BD59-A6C34878D82A}">
                    <a16:rowId xmlns:a16="http://schemas.microsoft.com/office/drawing/2014/main" val="10005"/>
                  </a:ext>
                </a:extLst>
              </a:tr>
            </a:tbl>
          </a:graphicData>
        </a:graphic>
      </p:graphicFrame>
      <p:sp>
        <p:nvSpPr>
          <p:cNvPr id="152" name="TextBox 151"/>
          <p:cNvSpPr txBox="1"/>
          <p:nvPr/>
        </p:nvSpPr>
        <p:spPr>
          <a:xfrm>
            <a:off x="4892040" y="1645920"/>
            <a:ext cx="3931920" cy="1097280"/>
          </a:xfrm>
          <a:prstGeom prst="rect">
            <a:avLst/>
          </a:prstGeom>
          <a:noFill/>
        </p:spPr>
        <p:txBody>
          <a:bodyPr wrap="square" lIns="0" tIns="0" rIns="0" bIns="0" anchor="t">
            <a:spAutoFit/>
          </a:bodyPr>
          <a:lstStyle/>
          <a:p>
            <a:pPr algn="l">
              <a:lnSpc>
                <a:spcPct val="115000"/>
              </a:lnSpc>
              <a:spcAft>
                <a:spcPts val="400"/>
              </a:spcAft>
            </a:pPr>
            <a:r>
              <a:rPr sz="1000" b="0" i="0">
                <a:solidFill>
                  <a:srgbClr val="3D3F43"/>
                </a:solidFill>
                <a:latin typeface="Arial"/>
              </a:rPr>
              <a:t>Each claim was run 3 times through the production code path (Gemini 2.5 Flash on Vertex AI, temperature 0.2), four at a time. Scores move a few points between runs, but the recommendation holds, and the rule floor keeps hard policy breaches from ever dropping into low risk.</a:t>
            </a:r>
          </a:p>
        </p:txBody>
      </p:sp>
      <p:sp>
        <p:nvSpPr>
          <p:cNvPr id="153" name="TextBox 152"/>
          <p:cNvSpPr txBox="1"/>
          <p:nvPr/>
        </p:nvSpPr>
        <p:spPr>
          <a:xfrm>
            <a:off x="320040" y="4645152"/>
            <a:ext cx="8503920" cy="274320"/>
          </a:xfrm>
          <a:prstGeom prst="rect">
            <a:avLst/>
          </a:prstGeom>
          <a:noFill/>
        </p:spPr>
        <p:txBody>
          <a:bodyPr wrap="square" lIns="0" tIns="0" rIns="0" bIns="0" anchor="t">
            <a:spAutoFit/>
          </a:bodyPr>
          <a:lstStyle/>
          <a:p>
            <a:pPr algn="l">
              <a:lnSpc>
                <a:spcPct val="115000"/>
              </a:lnSpc>
              <a:spcAft>
                <a:spcPts val="400"/>
              </a:spcAft>
            </a:pPr>
            <a:r>
              <a:rPr sz="950" b="0" i="0">
                <a:solidFill>
                  <a:srgbClr val="6E7076"/>
                </a:solidFill>
                <a:latin typeface="Arial"/>
              </a:rPr>
              <a:t>Test set: five synthetic claims with known answers. Next step is a labelled set of real, anonymised claims from a pilot partner.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5"/>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Additional details and future development</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320040" y="1005840"/>
            <a:ext cx="8503920" cy="457200"/>
          </a:xfrm>
          <a:prstGeom prst="rect">
            <a:avLst/>
          </a:prstGeom>
          <a:noFill/>
        </p:spPr>
        <p:txBody>
          <a:bodyPr wrap="square" lIns="0" tIns="0" rIns="0" bIns="0" anchor="t">
            <a:spAutoFit/>
          </a:bodyPr>
          <a:lstStyle/>
          <a:p>
            <a:pPr algn="l">
              <a:lnSpc>
                <a:spcPct val="105000"/>
              </a:lnSpc>
              <a:spcAft>
                <a:spcPts val="400"/>
              </a:spcAft>
            </a:pPr>
            <a:r>
              <a:rPr sz="2000" b="1" i="0">
                <a:solidFill>
                  <a:srgbClr val="1C1D1F"/>
                </a:solidFill>
                <a:latin typeface="Arial"/>
              </a:rPr>
              <a:t>From a working prototype to a pilot with a real insurer</a:t>
            </a:r>
          </a:p>
        </p:txBody>
      </p:sp>
      <p:sp>
        <p:nvSpPr>
          <p:cNvPr id="153" name="Rounded Rectangle 152"/>
          <p:cNvSpPr/>
          <p:nvPr/>
        </p:nvSpPr>
        <p:spPr>
          <a:xfrm>
            <a:off x="320040" y="1645920"/>
            <a:ext cx="2682240" cy="25146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484632" y="1783080"/>
            <a:ext cx="2353056" cy="274320"/>
          </a:xfrm>
          <a:prstGeom prst="rect">
            <a:avLst/>
          </a:prstGeom>
          <a:noFill/>
        </p:spPr>
        <p:txBody>
          <a:bodyPr wrap="square" lIns="0" tIns="0" rIns="0" bIns="0" anchor="t">
            <a:spAutoFit/>
          </a:bodyPr>
          <a:lstStyle/>
          <a:p>
            <a:pPr algn="l">
              <a:lnSpc>
                <a:spcPct val="115000"/>
              </a:lnSpc>
              <a:spcAft>
                <a:spcPts val="400"/>
              </a:spcAft>
            </a:pPr>
            <a:r>
              <a:rPr sz="900" b="1" i="0">
                <a:solidFill>
                  <a:srgbClr val="1F3A5F"/>
                </a:solidFill>
                <a:latin typeface="Arial"/>
              </a:rPr>
              <a:t>NEXT 30 DAYS</a:t>
            </a:r>
          </a:p>
        </p:txBody>
      </p:sp>
      <p:sp>
        <p:nvSpPr>
          <p:cNvPr id="155" name="TextBox 154"/>
          <p:cNvSpPr txBox="1"/>
          <p:nvPr/>
        </p:nvSpPr>
        <p:spPr>
          <a:xfrm>
            <a:off x="484632" y="2029968"/>
            <a:ext cx="2353056" cy="320040"/>
          </a:xfrm>
          <a:prstGeom prst="rect">
            <a:avLst/>
          </a:prstGeom>
          <a:noFill/>
        </p:spPr>
        <p:txBody>
          <a:bodyPr wrap="square" lIns="0" tIns="0" rIns="0" bIns="0" anchor="t">
            <a:spAutoFit/>
          </a:bodyPr>
          <a:lstStyle/>
          <a:p>
            <a:pPr algn="l">
              <a:lnSpc>
                <a:spcPct val="115000"/>
              </a:lnSpc>
              <a:spcAft>
                <a:spcPts val="400"/>
              </a:spcAft>
            </a:pPr>
            <a:r>
              <a:rPr sz="1300" b="1" i="0">
                <a:solidFill>
                  <a:srgbClr val="1C1D1F"/>
                </a:solidFill>
                <a:latin typeface="Arial"/>
              </a:rPr>
              <a:t>Pilot ready</a:t>
            </a:r>
          </a:p>
        </p:txBody>
      </p:sp>
      <p:sp>
        <p:nvSpPr>
          <p:cNvPr id="156" name="TextBox 155"/>
          <p:cNvSpPr txBox="1"/>
          <p:nvPr/>
        </p:nvSpPr>
        <p:spPr>
          <a:xfrm>
            <a:off x="484632" y="2468880"/>
            <a:ext cx="2353056" cy="1645920"/>
          </a:xfrm>
          <a:prstGeom prst="rect">
            <a:avLst/>
          </a:prstGeom>
          <a:noFill/>
        </p:spPr>
        <p:txBody>
          <a:bodyPr wrap="square" lIns="0" tIns="0" rIns="0" bIns="0" anchor="t">
            <a:spAutoFit/>
          </a:bodyPr>
          <a:lstStyle/>
          <a:p>
            <a:pPr algn="l">
              <a:lnSpc>
                <a:spcPct val="115000"/>
              </a:lnSpc>
              <a:spcAft>
                <a:spcPts val="700"/>
              </a:spcAft>
            </a:pPr>
            <a:r>
              <a:rPr sz="1000" b="0" i="0">
                <a:solidFill>
                  <a:srgbClr val="3D3F43"/>
                </a:solidFill>
                <a:latin typeface="Arial"/>
              </a:rPr>
              <a:t>Firestore for claim history and an audit log</a:t>
            </a:r>
          </a:p>
          <a:p>
            <a:pPr algn="l">
              <a:lnSpc>
                <a:spcPct val="115000"/>
              </a:lnSpc>
              <a:spcAft>
                <a:spcPts val="700"/>
              </a:spcAft>
            </a:pPr>
            <a:r>
              <a:rPr sz="1000" b="0" i="0">
                <a:solidFill>
                  <a:srgbClr val="3D3F43"/>
                </a:solidFill>
                <a:latin typeface="Arial"/>
              </a:rPr>
              <a:t>Pub/Sub intake from claim portals</a:t>
            </a:r>
          </a:p>
          <a:p>
            <a:pPr algn="l">
              <a:lnSpc>
                <a:spcPct val="115000"/>
              </a:lnSpc>
              <a:spcAft>
                <a:spcPts val="700"/>
              </a:spcAft>
            </a:pPr>
            <a:r>
              <a:rPr sz="1000" b="0" i="0">
                <a:solidFill>
                  <a:srgbClr val="3D3F43"/>
                </a:solidFill>
                <a:latin typeface="Arial"/>
              </a:rPr>
              <a:t>Single sign-on for adjusters</a:t>
            </a:r>
          </a:p>
        </p:txBody>
      </p:sp>
      <p:sp>
        <p:nvSpPr>
          <p:cNvPr id="157" name="Rounded Rectangle 156"/>
          <p:cNvSpPr/>
          <p:nvPr/>
        </p:nvSpPr>
        <p:spPr>
          <a:xfrm>
            <a:off x="3230880" y="1645920"/>
            <a:ext cx="2682240" cy="25146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Box 157"/>
          <p:cNvSpPr txBox="1"/>
          <p:nvPr/>
        </p:nvSpPr>
        <p:spPr>
          <a:xfrm>
            <a:off x="3395472" y="1783080"/>
            <a:ext cx="2353056" cy="274320"/>
          </a:xfrm>
          <a:prstGeom prst="rect">
            <a:avLst/>
          </a:prstGeom>
          <a:noFill/>
        </p:spPr>
        <p:txBody>
          <a:bodyPr wrap="square" lIns="0" tIns="0" rIns="0" bIns="0" anchor="t">
            <a:spAutoFit/>
          </a:bodyPr>
          <a:lstStyle/>
          <a:p>
            <a:pPr algn="l">
              <a:lnSpc>
                <a:spcPct val="115000"/>
              </a:lnSpc>
              <a:spcAft>
                <a:spcPts val="400"/>
              </a:spcAft>
            </a:pPr>
            <a:r>
              <a:rPr sz="900" b="1" i="0">
                <a:solidFill>
                  <a:srgbClr val="1F3A5F"/>
                </a:solidFill>
                <a:latin typeface="Arial"/>
              </a:rPr>
              <a:t>NEXT QUARTER</a:t>
            </a:r>
          </a:p>
        </p:txBody>
      </p:sp>
      <p:sp>
        <p:nvSpPr>
          <p:cNvPr id="159" name="TextBox 158"/>
          <p:cNvSpPr txBox="1"/>
          <p:nvPr/>
        </p:nvSpPr>
        <p:spPr>
          <a:xfrm>
            <a:off x="3395472" y="2029968"/>
            <a:ext cx="2353056" cy="320040"/>
          </a:xfrm>
          <a:prstGeom prst="rect">
            <a:avLst/>
          </a:prstGeom>
          <a:noFill/>
        </p:spPr>
        <p:txBody>
          <a:bodyPr wrap="square" lIns="0" tIns="0" rIns="0" bIns="0" anchor="t">
            <a:spAutoFit/>
          </a:bodyPr>
          <a:lstStyle/>
          <a:p>
            <a:pPr algn="l">
              <a:lnSpc>
                <a:spcPct val="115000"/>
              </a:lnSpc>
              <a:spcAft>
                <a:spcPts val="400"/>
              </a:spcAft>
            </a:pPr>
            <a:r>
              <a:rPr sz="1300" b="1" i="0">
                <a:solidFill>
                  <a:srgbClr val="1C1D1F"/>
                </a:solidFill>
                <a:latin typeface="Arial"/>
              </a:rPr>
              <a:t>Network signals</a:t>
            </a:r>
          </a:p>
        </p:txBody>
      </p:sp>
      <p:sp>
        <p:nvSpPr>
          <p:cNvPr id="160" name="TextBox 159"/>
          <p:cNvSpPr txBox="1"/>
          <p:nvPr/>
        </p:nvSpPr>
        <p:spPr>
          <a:xfrm>
            <a:off x="3395472" y="2468880"/>
            <a:ext cx="2353056" cy="1645920"/>
          </a:xfrm>
          <a:prstGeom prst="rect">
            <a:avLst/>
          </a:prstGeom>
          <a:noFill/>
        </p:spPr>
        <p:txBody>
          <a:bodyPr wrap="square" lIns="0" tIns="0" rIns="0" bIns="0" anchor="t">
            <a:spAutoFit/>
          </a:bodyPr>
          <a:lstStyle/>
          <a:p>
            <a:pPr algn="l">
              <a:lnSpc>
                <a:spcPct val="115000"/>
              </a:lnSpc>
              <a:spcAft>
                <a:spcPts val="700"/>
              </a:spcAft>
            </a:pPr>
            <a:r>
              <a:rPr sz="1000" b="0" i="0">
                <a:solidFill>
                  <a:srgbClr val="3D3F43"/>
                </a:solidFill>
                <a:latin typeface="Arial"/>
              </a:rPr>
              <a:t>BigQuery history to catch reused invoices and repeat vendors</a:t>
            </a:r>
          </a:p>
          <a:p>
            <a:pPr algn="l">
              <a:lnSpc>
                <a:spcPct val="115000"/>
              </a:lnSpc>
              <a:spcAft>
                <a:spcPts val="700"/>
              </a:spcAft>
            </a:pPr>
            <a:r>
              <a:rPr sz="1000" b="0" i="0">
                <a:solidFill>
                  <a:srgbClr val="3D3F43"/>
                </a:solidFill>
                <a:latin typeface="Arial"/>
              </a:rPr>
              <a:t>Fraud ring detection across claims</a:t>
            </a:r>
          </a:p>
          <a:p>
            <a:pPr algn="l">
              <a:lnSpc>
                <a:spcPct val="115000"/>
              </a:lnSpc>
              <a:spcAft>
                <a:spcPts val="700"/>
              </a:spcAft>
            </a:pPr>
            <a:r>
              <a:rPr sz="1000" b="0" i="0">
                <a:solidFill>
                  <a:srgbClr val="3D3F43"/>
                </a:solidFill>
                <a:latin typeface="Arial"/>
              </a:rPr>
              <a:t>Vertex AI model tuned on real investigation outcomes</a:t>
            </a:r>
          </a:p>
        </p:txBody>
      </p:sp>
      <p:sp>
        <p:nvSpPr>
          <p:cNvPr id="161" name="Rounded Rectangle 160"/>
          <p:cNvSpPr/>
          <p:nvPr/>
        </p:nvSpPr>
        <p:spPr>
          <a:xfrm>
            <a:off x="6141720" y="1645920"/>
            <a:ext cx="2682240" cy="25146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Box 161"/>
          <p:cNvSpPr txBox="1"/>
          <p:nvPr/>
        </p:nvSpPr>
        <p:spPr>
          <a:xfrm>
            <a:off x="6306312" y="1783080"/>
            <a:ext cx="2353056" cy="274320"/>
          </a:xfrm>
          <a:prstGeom prst="rect">
            <a:avLst/>
          </a:prstGeom>
          <a:noFill/>
        </p:spPr>
        <p:txBody>
          <a:bodyPr wrap="square" lIns="0" tIns="0" rIns="0" bIns="0" anchor="t">
            <a:spAutoFit/>
          </a:bodyPr>
          <a:lstStyle/>
          <a:p>
            <a:pPr algn="l">
              <a:lnSpc>
                <a:spcPct val="115000"/>
              </a:lnSpc>
              <a:spcAft>
                <a:spcPts val="400"/>
              </a:spcAft>
            </a:pPr>
            <a:r>
              <a:rPr sz="900" b="1" i="0">
                <a:solidFill>
                  <a:srgbClr val="1F3A5F"/>
                </a:solidFill>
                <a:latin typeface="Arial"/>
              </a:rPr>
              <a:t>LATER</a:t>
            </a:r>
          </a:p>
        </p:txBody>
      </p:sp>
      <p:sp>
        <p:nvSpPr>
          <p:cNvPr id="163" name="TextBox 162"/>
          <p:cNvSpPr txBox="1"/>
          <p:nvPr/>
        </p:nvSpPr>
        <p:spPr>
          <a:xfrm>
            <a:off x="6306312" y="2029968"/>
            <a:ext cx="2353056" cy="320040"/>
          </a:xfrm>
          <a:prstGeom prst="rect">
            <a:avLst/>
          </a:prstGeom>
          <a:noFill/>
        </p:spPr>
        <p:txBody>
          <a:bodyPr wrap="square" lIns="0" tIns="0" rIns="0" bIns="0" anchor="t">
            <a:spAutoFit/>
          </a:bodyPr>
          <a:lstStyle/>
          <a:p>
            <a:pPr algn="l">
              <a:lnSpc>
                <a:spcPct val="115000"/>
              </a:lnSpc>
              <a:spcAft>
                <a:spcPts val="400"/>
              </a:spcAft>
            </a:pPr>
            <a:r>
              <a:rPr sz="1300" b="1" i="0">
                <a:solidFill>
                  <a:srgbClr val="1C1D1F"/>
                </a:solidFill>
                <a:latin typeface="Arial"/>
              </a:rPr>
              <a:t>More lines of business</a:t>
            </a:r>
          </a:p>
        </p:txBody>
      </p:sp>
      <p:sp>
        <p:nvSpPr>
          <p:cNvPr id="164" name="TextBox 163"/>
          <p:cNvSpPr txBox="1"/>
          <p:nvPr/>
        </p:nvSpPr>
        <p:spPr>
          <a:xfrm>
            <a:off x="6306312" y="2468880"/>
            <a:ext cx="2353056" cy="1645920"/>
          </a:xfrm>
          <a:prstGeom prst="rect">
            <a:avLst/>
          </a:prstGeom>
          <a:noFill/>
        </p:spPr>
        <p:txBody>
          <a:bodyPr wrap="square" lIns="0" tIns="0" rIns="0" bIns="0" anchor="t">
            <a:spAutoFit/>
          </a:bodyPr>
          <a:lstStyle/>
          <a:p>
            <a:pPr algn="l">
              <a:lnSpc>
                <a:spcPct val="115000"/>
              </a:lnSpc>
              <a:spcAft>
                <a:spcPts val="700"/>
              </a:spcAft>
            </a:pPr>
            <a:r>
              <a:rPr sz="1000" b="0" i="0">
                <a:solidFill>
                  <a:srgbClr val="3D3F43"/>
                </a:solidFill>
                <a:latin typeface="Arial"/>
              </a:rPr>
              <a:t>Photo forensics: metadata checks, reused or stock images</a:t>
            </a:r>
          </a:p>
          <a:p>
            <a:pPr algn="l">
              <a:lnSpc>
                <a:spcPct val="115000"/>
              </a:lnSpc>
              <a:spcAft>
                <a:spcPts val="700"/>
              </a:spcAft>
            </a:pPr>
            <a:r>
              <a:rPr sz="1000" b="0" i="0">
                <a:solidFill>
                  <a:srgbClr val="3D3F43"/>
                </a:solidFill>
                <a:latin typeface="Arial"/>
              </a:rPr>
              <a:t>Health and travel claims</a:t>
            </a:r>
          </a:p>
          <a:p>
            <a:pPr algn="l">
              <a:lnSpc>
                <a:spcPct val="115000"/>
              </a:lnSpc>
              <a:spcAft>
                <a:spcPts val="700"/>
              </a:spcAft>
            </a:pPr>
            <a:r>
              <a:rPr sz="1000" b="0" i="0">
                <a:solidFill>
                  <a:srgbClr val="3D3F43"/>
                </a:solidFill>
                <a:latin typeface="Arial"/>
              </a:rPr>
              <a:t>KYC and loan document checks for banks</a:t>
            </a:r>
          </a:p>
        </p:txBody>
      </p:sp>
      <p:sp>
        <p:nvSpPr>
          <p:cNvPr id="165" name="TextBox 164"/>
          <p:cNvSpPr txBox="1"/>
          <p:nvPr/>
        </p:nvSpPr>
        <p:spPr>
          <a:xfrm>
            <a:off x="320040" y="4343400"/>
            <a:ext cx="8503920" cy="548640"/>
          </a:xfrm>
          <a:prstGeom prst="rect">
            <a:avLst/>
          </a:prstGeom>
          <a:noFill/>
        </p:spPr>
        <p:txBody>
          <a:bodyPr wrap="square" lIns="0" tIns="0" rIns="0" bIns="0" anchor="t">
            <a:spAutoFit/>
          </a:bodyPr>
          <a:lstStyle/>
          <a:p>
            <a:pPr algn="l">
              <a:lnSpc>
                <a:spcPct val="115000"/>
              </a:lnSpc>
              <a:spcAft>
                <a:spcPts val="400"/>
              </a:spcAft>
            </a:pPr>
            <a:r>
              <a:rPr sz="1050" b="1" i="0">
                <a:solidFill>
                  <a:srgbClr val="1C1D1F"/>
                </a:solidFill>
                <a:latin typeface="Arial"/>
              </a:rPr>
              <a:t>Business model. </a:t>
            </a:r>
            <a:r>
              <a:rPr sz="1050" b="0" i="0">
                <a:solidFill>
                  <a:srgbClr val="3D3F43"/>
                </a:solidFill>
                <a:latin typeface="Arial"/>
              </a:rPr>
              <a:t>Priced per claim reviewed and installed in the customer's own cloud account, so insurers keep control of their data and pay in line with their claim volume.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6"/>
          <p:cNvSpPr txBox="1"/>
          <p:nvPr/>
        </p:nvSpPr>
        <p:spPr>
          <a:xfrm>
            <a:off x="265350" y="663825"/>
            <a:ext cx="89430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20040" y="1280160"/>
            <a:ext cx="8503920" cy="621792"/>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TextBox 160"/>
          <p:cNvSpPr txBox="1"/>
          <p:nvPr/>
        </p:nvSpPr>
        <p:spPr>
          <a:xfrm>
            <a:off x="502920" y="1371600"/>
            <a:ext cx="2743200" cy="457200"/>
          </a:xfrm>
          <a:prstGeom prst="rect">
            <a:avLst/>
          </a:prstGeom>
          <a:noFill/>
        </p:spPr>
        <p:txBody>
          <a:bodyPr wrap="square" lIns="0" tIns="0" rIns="0" bIns="0" anchor="ctr">
            <a:spAutoFit/>
          </a:bodyPr>
          <a:lstStyle/>
          <a:p>
            <a:pPr algn="l">
              <a:lnSpc>
                <a:spcPct val="115000"/>
              </a:lnSpc>
              <a:spcAft>
                <a:spcPts val="400"/>
              </a:spcAft>
            </a:pPr>
            <a:r>
              <a:rPr sz="1200" b="1" i="0">
                <a:solidFill>
                  <a:srgbClr val="1C1D1F"/>
                </a:solidFill>
                <a:latin typeface="Arial"/>
              </a:rPr>
              <a:t>GitHub public repository</a:t>
            </a:r>
          </a:p>
        </p:txBody>
      </p:sp>
      <p:sp>
        <p:nvSpPr>
          <p:cNvPr id="162" name="TextBox 161"/>
          <p:cNvSpPr txBox="1"/>
          <p:nvPr/>
        </p:nvSpPr>
        <p:spPr>
          <a:xfrm>
            <a:off x="3154680" y="1371600"/>
            <a:ext cx="5486400" cy="457200"/>
          </a:xfrm>
          <a:prstGeom prst="rect">
            <a:avLst/>
          </a:prstGeom>
          <a:noFill/>
        </p:spPr>
        <p:txBody>
          <a:bodyPr wrap="square" lIns="0" tIns="0" rIns="0" bIns="0" anchor="ctr">
            <a:spAutoFit/>
          </a:bodyPr>
          <a:lstStyle/>
          <a:p>
            <a:pPr algn="l">
              <a:lnSpc>
                <a:spcPct val="115000"/>
              </a:lnSpc>
              <a:spcAft>
                <a:spcPts val="400"/>
              </a:spcAft>
            </a:pPr>
            <a:r>
              <a:rPr sz="1200" b="0" i="0">
                <a:solidFill>
                  <a:srgbClr val="1F3A5F"/>
                </a:solidFill>
                <a:latin typeface="Arial"/>
                <a:hlinkClick r:id="rId5"/>
              </a:rPr>
              <a:t>https://github.com/PR1YAM9/ai-builder-cup</a:t>
            </a:r>
          </a:p>
        </p:txBody>
      </p:sp>
      <p:sp>
        <p:nvSpPr>
          <p:cNvPr id="163" name="Rounded Rectangle 162"/>
          <p:cNvSpPr/>
          <p:nvPr/>
        </p:nvSpPr>
        <p:spPr>
          <a:xfrm>
            <a:off x="320040" y="2057400"/>
            <a:ext cx="8503920" cy="621792"/>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Box 163"/>
          <p:cNvSpPr txBox="1"/>
          <p:nvPr/>
        </p:nvSpPr>
        <p:spPr>
          <a:xfrm>
            <a:off x="502920" y="2148840"/>
            <a:ext cx="2743200" cy="457200"/>
          </a:xfrm>
          <a:prstGeom prst="rect">
            <a:avLst/>
          </a:prstGeom>
          <a:noFill/>
        </p:spPr>
        <p:txBody>
          <a:bodyPr wrap="square" lIns="0" tIns="0" rIns="0" bIns="0" anchor="ctr">
            <a:spAutoFit/>
          </a:bodyPr>
          <a:lstStyle/>
          <a:p>
            <a:pPr algn="l">
              <a:lnSpc>
                <a:spcPct val="115000"/>
              </a:lnSpc>
              <a:spcAft>
                <a:spcPts val="400"/>
              </a:spcAft>
            </a:pPr>
            <a:r>
              <a:rPr sz="1200" b="1" i="0">
                <a:solidFill>
                  <a:srgbClr val="1C1D1F"/>
                </a:solidFill>
                <a:latin typeface="Arial"/>
              </a:rPr>
              <a:t>Demo video (3 minutes)</a:t>
            </a:r>
          </a:p>
        </p:txBody>
      </p:sp>
      <p:sp>
        <p:nvSpPr>
          <p:cNvPr id="165" name="TextBox 164"/>
          <p:cNvSpPr txBox="1"/>
          <p:nvPr/>
        </p:nvSpPr>
        <p:spPr>
          <a:xfrm>
            <a:off x="3154680" y="2148840"/>
            <a:ext cx="5486400" cy="457200"/>
          </a:xfrm>
          <a:prstGeom prst="rect">
            <a:avLst/>
          </a:prstGeom>
          <a:noFill/>
        </p:spPr>
        <p:txBody>
          <a:bodyPr wrap="square" lIns="0" tIns="0" rIns="0" bIns="0" anchor="ctr">
            <a:spAutoFit/>
          </a:bodyPr>
          <a:lstStyle/>
          <a:p>
            <a:pPr algn="l">
              <a:lnSpc>
                <a:spcPct val="115000"/>
              </a:lnSpc>
              <a:spcAft>
                <a:spcPts val="400"/>
              </a:spcAft>
            </a:pPr>
            <a:r>
              <a:rPr sz="1200" b="0" i="0">
                <a:solidFill>
                  <a:srgbClr val="9A3B2E"/>
                </a:solidFill>
                <a:latin typeface="Arial"/>
              </a:rPr>
              <a:t>Add your video link here</a:t>
            </a:r>
          </a:p>
        </p:txBody>
      </p:sp>
      <p:sp>
        <p:nvSpPr>
          <p:cNvPr id="166" name="Rounded Rectangle 165"/>
          <p:cNvSpPr/>
          <p:nvPr/>
        </p:nvSpPr>
        <p:spPr>
          <a:xfrm>
            <a:off x="320040" y="2834639"/>
            <a:ext cx="8503920" cy="621792"/>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TextBox 166"/>
          <p:cNvSpPr txBox="1"/>
          <p:nvPr/>
        </p:nvSpPr>
        <p:spPr>
          <a:xfrm>
            <a:off x="502920" y="2926079"/>
            <a:ext cx="2743200" cy="457200"/>
          </a:xfrm>
          <a:prstGeom prst="rect">
            <a:avLst/>
          </a:prstGeom>
          <a:noFill/>
        </p:spPr>
        <p:txBody>
          <a:bodyPr wrap="square" lIns="0" tIns="0" rIns="0" bIns="0" anchor="ctr">
            <a:spAutoFit/>
          </a:bodyPr>
          <a:lstStyle/>
          <a:p>
            <a:pPr algn="l">
              <a:lnSpc>
                <a:spcPct val="115000"/>
              </a:lnSpc>
              <a:spcAft>
                <a:spcPts val="400"/>
              </a:spcAft>
            </a:pPr>
            <a:r>
              <a:rPr sz="1200" b="1" i="0">
                <a:solidFill>
                  <a:srgbClr val="1C1D1F"/>
                </a:solidFill>
                <a:latin typeface="Arial"/>
              </a:rPr>
              <a:t>Final product link</a:t>
            </a:r>
          </a:p>
        </p:txBody>
      </p:sp>
      <p:sp>
        <p:nvSpPr>
          <p:cNvPr id="168" name="TextBox 167"/>
          <p:cNvSpPr txBox="1"/>
          <p:nvPr/>
        </p:nvSpPr>
        <p:spPr>
          <a:xfrm>
            <a:off x="3154680" y="2926079"/>
            <a:ext cx="5486400" cy="457200"/>
          </a:xfrm>
          <a:prstGeom prst="rect">
            <a:avLst/>
          </a:prstGeom>
          <a:noFill/>
        </p:spPr>
        <p:txBody>
          <a:bodyPr wrap="square" lIns="0" tIns="0" rIns="0" bIns="0" anchor="ctr">
            <a:spAutoFit/>
          </a:bodyPr>
          <a:lstStyle/>
          <a:p>
            <a:pPr algn="l">
              <a:lnSpc>
                <a:spcPct val="115000"/>
              </a:lnSpc>
              <a:spcAft>
                <a:spcPts val="400"/>
              </a:spcAft>
            </a:pPr>
            <a:r>
              <a:rPr sz="1200" b="0" i="0">
                <a:solidFill>
                  <a:srgbClr val="1F3A5F"/>
                </a:solidFill>
                <a:latin typeface="Arial"/>
                <a:hlinkClick r:id="rId6"/>
              </a:rPr>
              <a:t>https://claimguard-ai-342329356911.us-central1.run.app</a:t>
            </a:r>
          </a:p>
        </p:txBody>
      </p:sp>
      <p:sp>
        <p:nvSpPr>
          <p:cNvPr id="169" name="Rounded Rectangle 168"/>
          <p:cNvSpPr/>
          <p:nvPr/>
        </p:nvSpPr>
        <p:spPr>
          <a:xfrm>
            <a:off x="320040" y="3611879"/>
            <a:ext cx="8503920" cy="621792"/>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TextBox 169"/>
          <p:cNvSpPr txBox="1"/>
          <p:nvPr/>
        </p:nvSpPr>
        <p:spPr>
          <a:xfrm>
            <a:off x="502920" y="3703320"/>
            <a:ext cx="2743200" cy="457200"/>
          </a:xfrm>
          <a:prstGeom prst="rect">
            <a:avLst/>
          </a:prstGeom>
          <a:noFill/>
        </p:spPr>
        <p:txBody>
          <a:bodyPr wrap="square" lIns="0" tIns="0" rIns="0" bIns="0" anchor="ctr">
            <a:spAutoFit/>
          </a:bodyPr>
          <a:lstStyle/>
          <a:p>
            <a:pPr algn="l">
              <a:lnSpc>
                <a:spcPct val="115000"/>
              </a:lnSpc>
              <a:spcAft>
                <a:spcPts val="400"/>
              </a:spcAft>
            </a:pPr>
            <a:r>
              <a:rPr sz="1200" b="1" i="0">
                <a:solidFill>
                  <a:srgbClr val="1C1D1F"/>
                </a:solidFill>
                <a:latin typeface="Arial"/>
              </a:rPr>
              <a:t>API reference</a:t>
            </a:r>
          </a:p>
        </p:txBody>
      </p:sp>
      <p:sp>
        <p:nvSpPr>
          <p:cNvPr id="171" name="TextBox 170"/>
          <p:cNvSpPr txBox="1"/>
          <p:nvPr/>
        </p:nvSpPr>
        <p:spPr>
          <a:xfrm>
            <a:off x="3154680" y="3703320"/>
            <a:ext cx="5486400" cy="457200"/>
          </a:xfrm>
          <a:prstGeom prst="rect">
            <a:avLst/>
          </a:prstGeom>
          <a:noFill/>
        </p:spPr>
        <p:txBody>
          <a:bodyPr wrap="square" lIns="0" tIns="0" rIns="0" bIns="0" anchor="ctr">
            <a:spAutoFit/>
          </a:bodyPr>
          <a:lstStyle/>
          <a:p>
            <a:pPr algn="l">
              <a:lnSpc>
                <a:spcPct val="115000"/>
              </a:lnSpc>
              <a:spcAft>
                <a:spcPts val="400"/>
              </a:spcAft>
            </a:pPr>
            <a:r>
              <a:rPr sz="1200" b="0" i="0">
                <a:solidFill>
                  <a:srgbClr val="1F3A5F"/>
                </a:solidFill>
                <a:latin typeface="Arial"/>
                <a:hlinkClick r:id="rId7"/>
              </a:rPr>
              <a:t>https://claimguard-ai-342329356911.us-central1.run.app/docs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1723</Words>
  <Application>Microsoft Office PowerPoint</Application>
  <PresentationFormat>On-screen Show (16:9)</PresentationFormat>
  <Paragraphs>219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Google Sans Flex SemiBold</vt:lpstr>
      <vt:lpstr>Google Sans Flex Medium</vt:lpstr>
      <vt:lpstr>Google Sans Flex</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Priyam Maini</cp:lastModifiedBy>
  <cp:revision>1</cp:revision>
  <dcterms:modified xsi:type="dcterms:W3CDTF">2026-10-18T16:09:56Z</dcterms:modified>
</cp:coreProperties>
</file>